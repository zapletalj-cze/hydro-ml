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881360" cy="777240"/>
          </a:xfrm>
          <a:prstGeom prst="rect">
            <a:avLst/>
          </a:prstGeom>
          <a:noFill/>
          <a:ln/>
        </p:spPr>
        <p:txBody>
          <a:bodyPr wrap="square" lIns="0" tIns="0" rIns="0" bIns="0" rtlCol="0" anchor="ctr"/>
          <a:lstStyle/>
          <a:p>
            <a:pPr indent="0" marL="0">
              <a:buNone/>
            </a:pPr>
            <a:r>
              <a:rPr lang="en-US" sz="3600" b="1" dirty="0">
                <a:solidFill>
                  <a:srgbClr val="1A1A1A"/>
                </a:solidFill>
                <a:latin typeface="Calibri" pitchFamily="34" charset="0"/>
                <a:ea typeface="Calibri" pitchFamily="34" charset="-122"/>
                <a:cs typeface="Calibri" pitchFamily="34" charset="-120"/>
              </a:rPr>
              <a:t>Detekce protipovodňových hrází</a:t>
            </a:r>
            <a:endParaRPr lang="en-US" sz="3600" dirty="0"/>
          </a:p>
        </p:txBody>
      </p:sp>
      <p:sp>
        <p:nvSpPr>
          <p:cNvPr id="3" name="Text 1"/>
          <p:cNvSpPr/>
          <p:nvPr/>
        </p:nvSpPr>
        <p:spPr>
          <a:xfrm>
            <a:off x="640080" y="1325880"/>
            <a:ext cx="10881360" cy="502920"/>
          </a:xfrm>
          <a:prstGeom prst="rect">
            <a:avLst/>
          </a:prstGeom>
          <a:noFill/>
          <a:ln/>
        </p:spPr>
        <p:txBody>
          <a:bodyPr wrap="square" lIns="0" tIns="0" rIns="0" bIns="0" rtlCol="0" anchor="ctr"/>
          <a:lstStyle/>
          <a:p>
            <a:pPr indent="0" marL="0">
              <a:buNone/>
            </a:pPr>
            <a:r>
              <a:rPr lang="en-US" sz="2600" dirty="0">
                <a:solidFill>
                  <a:srgbClr val="2D2D2D"/>
                </a:solidFill>
                <a:latin typeface="Calibri" pitchFamily="34" charset="0"/>
                <a:ea typeface="Calibri" pitchFamily="34" charset="-122"/>
                <a:cs typeface="Calibri" pitchFamily="34" charset="-120"/>
              </a:rPr>
              <a:t>z globálních DSM dat</a:t>
            </a:r>
            <a:endParaRPr lang="en-US" sz="2600" dirty="0"/>
          </a:p>
        </p:txBody>
      </p:sp>
      <p:sp>
        <p:nvSpPr>
          <p:cNvPr id="4" name="Text 2"/>
          <p:cNvSpPr/>
          <p:nvPr/>
        </p:nvSpPr>
        <p:spPr>
          <a:xfrm>
            <a:off x="640080" y="1920240"/>
            <a:ext cx="10881360" cy="36576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Konzultace — duben 2026</a:t>
            </a:r>
            <a:endParaRPr lang="en-US" sz="1500" dirty="0"/>
          </a:p>
        </p:txBody>
      </p:sp>
      <p:sp>
        <p:nvSpPr>
          <p:cNvPr id="5" name="Text 3"/>
          <p:cNvSpPr/>
          <p:nvPr/>
        </p:nvSpPr>
        <p:spPr>
          <a:xfrm>
            <a:off x="640080" y="2606040"/>
            <a:ext cx="10881360" cy="320040"/>
          </a:xfrm>
          <a:prstGeom prst="rect">
            <a:avLst/>
          </a:prstGeom>
          <a:noFill/>
          <a:ln/>
        </p:spPr>
        <p:txBody>
          <a:bodyPr wrap="square" lIns="0" tIns="0" rIns="0" bIns="0" rtlCol="0" anchor="ctr"/>
          <a:lstStyle/>
          <a:p>
            <a:pPr indent="0" marL="0">
              <a:buNone/>
            </a:pPr>
            <a:r>
              <a:rPr lang="en-US" sz="1400" b="1" dirty="0">
                <a:solidFill>
                  <a:srgbClr val="1E40AF"/>
                </a:solidFill>
                <a:latin typeface="Calibri" pitchFamily="34" charset="0"/>
                <a:ea typeface="Calibri" pitchFamily="34" charset="-122"/>
                <a:cs typeface="Calibri" pitchFamily="34" charset="-120"/>
              </a:rPr>
              <a:t>Cíl práce</a:t>
            </a:r>
            <a:endParaRPr lang="en-US" sz="1400" dirty="0"/>
          </a:p>
        </p:txBody>
      </p:sp>
      <p:sp>
        <p:nvSpPr>
          <p:cNvPr id="6" name="Text 4"/>
          <p:cNvSpPr/>
          <p:nvPr/>
        </p:nvSpPr>
        <p:spPr>
          <a:xfrm>
            <a:off x="640080" y="2926080"/>
            <a:ext cx="10881360" cy="777240"/>
          </a:xfrm>
          <a:prstGeom prst="rect">
            <a:avLst/>
          </a:prstGeom>
          <a:noFill/>
          <a:ln/>
        </p:spPr>
        <p:txBody>
          <a:bodyPr wrap="square" lIns="0" tIns="0" rIns="0" bIns="0" rtlCol="0" anchor="t"/>
          <a:lstStyle/>
          <a:p>
            <a:pPr indent="0" marL="0">
              <a:buNone/>
            </a:pPr>
            <a:r>
              <a:rPr lang="en-US" sz="1300" dirty="0">
                <a:solidFill>
                  <a:srgbClr val="2D2D2D"/>
                </a:solidFill>
                <a:latin typeface="Calibri" pitchFamily="34" charset="0"/>
                <a:ea typeface="Calibri" pitchFamily="34" charset="-122"/>
                <a:cs typeface="Calibri" pitchFamily="34" charset="-120"/>
              </a:rPr>
              <a:t>Vyvinout metodu automatické detekce protipovodňových hrází z globálně dostupných výškových dat (Copernicus DSM 30 m) pomocí hlubokého učení. Sekundárním cílem je odhad výšky detekovaných hrází s využitím ICESat-2 ATL08.</a:t>
            </a:r>
            <a:endParaRPr lang="en-US" sz="1300" dirty="0"/>
          </a:p>
        </p:txBody>
      </p:sp>
      <p:sp>
        <p:nvSpPr>
          <p:cNvPr id="7" name="Text 5"/>
          <p:cNvSpPr/>
          <p:nvPr/>
        </p:nvSpPr>
        <p:spPr>
          <a:xfrm>
            <a:off x="640080" y="3794760"/>
            <a:ext cx="10881360" cy="320040"/>
          </a:xfrm>
          <a:prstGeom prst="rect">
            <a:avLst/>
          </a:prstGeom>
          <a:noFill/>
          <a:ln/>
        </p:spPr>
        <p:txBody>
          <a:bodyPr wrap="square" lIns="0" tIns="0" rIns="0" bIns="0" rtlCol="0" anchor="ctr"/>
          <a:lstStyle/>
          <a:p>
            <a:pPr indent="0" marL="0">
              <a:buNone/>
            </a:pPr>
            <a:r>
              <a:rPr lang="en-US" sz="1400" b="1" dirty="0">
                <a:solidFill>
                  <a:srgbClr val="1E40AF"/>
                </a:solidFill>
                <a:latin typeface="Calibri" pitchFamily="34" charset="0"/>
                <a:ea typeface="Calibri" pitchFamily="34" charset="-122"/>
                <a:cs typeface="Calibri" pitchFamily="34" charset="-120"/>
              </a:rPr>
              <a:t>Stav</a:t>
            </a:r>
            <a:endParaRPr lang="en-US" sz="1400" dirty="0"/>
          </a:p>
        </p:txBody>
      </p:sp>
      <p:sp>
        <p:nvSpPr>
          <p:cNvPr id="8" name="Text 6"/>
          <p:cNvSpPr/>
          <p:nvPr/>
        </p:nvSpPr>
        <p:spPr>
          <a:xfrm>
            <a:off x="640080" y="4114800"/>
            <a:ext cx="10881360" cy="777240"/>
          </a:xfrm>
          <a:prstGeom prst="rect">
            <a:avLst/>
          </a:prstGeom>
          <a:noFill/>
          <a:ln/>
        </p:spPr>
        <p:txBody>
          <a:bodyPr wrap="square" lIns="0" tIns="0" rIns="0" bIns="0" rtlCol="0" anchor="t"/>
          <a:lstStyle/>
          <a:p>
            <a:pPr indent="0" marL="0">
              <a:buNone/>
            </a:pPr>
            <a:r>
              <a:rPr lang="en-US" sz="1300" dirty="0">
                <a:solidFill>
                  <a:srgbClr val="2D2D2D"/>
                </a:solidFill>
                <a:latin typeface="Calibri" pitchFamily="34" charset="0"/>
                <a:ea typeface="Calibri" pitchFamily="34" charset="-122"/>
                <a:cs typeface="Calibri" pitchFamily="34" charset="-120"/>
              </a:rPr>
              <a:t>Pipeline pro generování trénovacích patchů je hotová, první ML model (ResNet-UNet) trénuje. Datové zdroje pro Polsko (BDOT10k) i Nizozemsko (TOP10NL) jsou připravené a sjednocené v EPSG:3035.</a:t>
            </a:r>
            <a:endParaRPr lang="en-US" sz="1300" dirty="0"/>
          </a:p>
        </p:txBody>
      </p:sp>
      <p:sp>
        <p:nvSpPr>
          <p:cNvPr id="9" name="Text 7"/>
          <p:cNvSpPr/>
          <p:nvPr/>
        </p:nvSpPr>
        <p:spPr>
          <a:xfrm>
            <a:off x="640080" y="4983480"/>
            <a:ext cx="10881360" cy="320040"/>
          </a:xfrm>
          <a:prstGeom prst="rect">
            <a:avLst/>
          </a:prstGeom>
          <a:noFill/>
          <a:ln/>
        </p:spPr>
        <p:txBody>
          <a:bodyPr wrap="square" lIns="0" tIns="0" rIns="0" bIns="0" rtlCol="0" anchor="ctr"/>
          <a:lstStyle/>
          <a:p>
            <a:pPr indent="0" marL="0">
              <a:buNone/>
            </a:pPr>
            <a:r>
              <a:rPr lang="en-US" sz="1400" b="1" dirty="0">
                <a:solidFill>
                  <a:srgbClr val="1E40AF"/>
                </a:solidFill>
                <a:latin typeface="Calibri" pitchFamily="34" charset="0"/>
                <a:ea typeface="Calibri" pitchFamily="34" charset="-122"/>
                <a:cs typeface="Calibri" pitchFamily="34" charset="-120"/>
              </a:rPr>
              <a:t>Účel konzultace</a:t>
            </a:r>
            <a:endParaRPr lang="en-US" sz="1400" dirty="0"/>
          </a:p>
        </p:txBody>
      </p:sp>
      <p:sp>
        <p:nvSpPr>
          <p:cNvPr id="10" name="Text 8"/>
          <p:cNvSpPr/>
          <p:nvPr/>
        </p:nvSpPr>
        <p:spPr>
          <a:xfrm>
            <a:off x="640080" y="5303520"/>
            <a:ext cx="10881360" cy="1005840"/>
          </a:xfrm>
          <a:prstGeom prst="rect">
            <a:avLst/>
          </a:prstGeom>
          <a:noFill/>
          <a:ln/>
        </p:spPr>
        <p:txBody>
          <a:bodyPr wrap="square" lIns="0" tIns="0" rIns="0" bIns="0" rtlCol="0" anchor="t"/>
          <a:lstStyle/>
          <a:p>
            <a:pPr indent="0" marL="0">
              <a:buNone/>
            </a:pPr>
            <a:r>
              <a:rPr lang="en-US" sz="1300" dirty="0">
                <a:solidFill>
                  <a:srgbClr val="2D2D2D"/>
                </a:solidFill>
                <a:latin typeface="Calibri" pitchFamily="34" charset="0"/>
                <a:ea typeface="Calibri" pitchFamily="34" charset="-122"/>
                <a:cs typeface="Calibri" pitchFamily="34" charset="-120"/>
              </a:rPr>
              <a:t>Tato schůzka má sloužit k validaci dosavadního přístupu, diskuzi nad otevřenými body, a kritickému zhodnocení původního návrhu na využití ICESat-2 pro odhad tvaru hráze. Ke každému tematickému okruhu mám připravené konkrétní otázky a vlastní stanovisko, které bych rád konzultoval.</a:t>
            </a:r>
            <a:endParaRPr lang="en-US" sz="1300" dirty="0"/>
          </a:p>
        </p:txBody>
      </p:sp>
      <p:sp>
        <p:nvSpPr>
          <p:cNvPr id="11" name="Text 9"/>
          <p:cNvSpPr/>
          <p:nvPr/>
        </p:nvSpPr>
        <p:spPr>
          <a:xfrm>
            <a:off x="640080" y="6355080"/>
            <a:ext cx="10881360" cy="32004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Jakub Zapletal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Co je hotové k dnešnímu dni</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91440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Současný přístup k detekci hrází z DSM je výsledkem postupného vývoje. V první fázi (Q1 2026) jsem testoval přístup založený na SAR datech, který se ukázal jako limitovaný. Posun k DSM-based metodě byl dán konkrétními zjištěními z gate testu, ne pouhým hledáním nového směru. Aktuální pipeline kombinuje obě regiony (PL + NL) s konzistentními zdroji labelů a stratifikací podle velikosti povodí.</a:t>
            </a:r>
            <a:endParaRPr lang="en-US" sz="1300" dirty="0"/>
          </a:p>
        </p:txBody>
      </p:sp>
      <p:sp>
        <p:nvSpPr>
          <p:cNvPr id="5" name="Text 3"/>
          <p:cNvSpPr/>
          <p:nvPr/>
        </p:nvSpPr>
        <p:spPr>
          <a:xfrm>
            <a:off x="457200" y="196596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Předchozí fáze (Q1 2026) — SAR-based přístup</a:t>
            </a:r>
            <a:endParaRPr lang="en-US" sz="1300" dirty="0"/>
          </a:p>
        </p:txBody>
      </p:sp>
      <p:sp>
        <p:nvSpPr>
          <p:cNvPr id="6" name="Text 4"/>
          <p:cNvSpPr/>
          <p:nvPr/>
        </p:nvSpPr>
        <p:spPr>
          <a:xfrm>
            <a:off x="640080" y="2286000"/>
            <a:ext cx="10972800" cy="9144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Sentinel-1 IW GRDH, pyroSAR preprocessing, XGBoost + GLCM features</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Vyhodnoceno na Polsku v EPSG:2180</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Závěr: SAR signál pro hráze je omezený, přenositelnost mezi povodími slabá</a:t>
            </a:r>
            <a:endParaRPr lang="en-US" sz="1200" dirty="0"/>
          </a:p>
        </p:txBody>
      </p:sp>
      <p:sp>
        <p:nvSpPr>
          <p:cNvPr id="7" name="Text 5"/>
          <p:cNvSpPr/>
          <p:nvPr/>
        </p:nvSpPr>
        <p:spPr>
          <a:xfrm>
            <a:off x="457200" y="324612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Posun k DSM-based přístupu</a:t>
            </a:r>
            <a:endParaRPr lang="en-US" sz="1300" dirty="0"/>
          </a:p>
        </p:txBody>
      </p:sp>
      <p:sp>
        <p:nvSpPr>
          <p:cNvPr id="8" name="Text 6"/>
          <p:cNvSpPr/>
          <p:nvPr/>
        </p:nvSpPr>
        <p:spPr>
          <a:xfrm>
            <a:off x="640080" y="3566160"/>
            <a:ext cx="10972800" cy="7315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Důvod: Copernicus DSM 30 m je globálně dostupný, hráze viditelné jako liniové elevační anomálie</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Gate test (dolní Visla): mediánová prominence v DSM 7.1 m, hráze viditelné v TPI na všech testovaných radiusech</a:t>
            </a:r>
            <a:endParaRPr lang="en-US" sz="1200" dirty="0"/>
          </a:p>
        </p:txBody>
      </p:sp>
      <p:sp>
        <p:nvSpPr>
          <p:cNvPr id="9" name="Text 7"/>
          <p:cNvSpPr/>
          <p:nvPr/>
        </p:nvSpPr>
        <p:spPr>
          <a:xfrm>
            <a:off x="457200" y="443484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Aktuální pipeline (Q2 2026)</a:t>
            </a:r>
            <a:endParaRPr lang="en-US" sz="1300" dirty="0"/>
          </a:p>
        </p:txBody>
      </p:sp>
      <p:sp>
        <p:nvSpPr>
          <p:cNvPr id="10" name="Text 8"/>
          <p:cNvSpPr/>
          <p:nvPr/>
        </p:nvSpPr>
        <p:spPr>
          <a:xfrm>
            <a:off x="640080" y="4754880"/>
            <a:ext cx="10972800" cy="17373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Generování patchů hotové pro PL i NL, vstupní kanály: DSM, TPI (3 radiusy), Canopy Height, Canopy SD</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Datové zdroje labelů: BDOT10k (PL), TOP10NL (NL), spatial prior MERIT Hydro Basins</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Stratifikace S/M/L podle uparea, split podle source_idx (původní hráze, prevence data leakage)</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Architektura: ResNet-UNet (baseline, trénuje), SegFormer (plánováno)</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Loss: clDice + Dice combo (penalizuje fragmentaci liniových struktur)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Pipeline — od raw dat k trénovaným patchům</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77724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Pipeline pro přípravu trénovacích dat byla navržená tak, aby každé designové rozhodnutí mělo konkrétní motivaci. Stratifikace podle MERIT uparea je klíčová — bez ní by nešlo vyhodnotit hypotézu, že velikost povodí ovlivňuje detekovatelnost hráze. Schéma níže ukazuje tok dat od raw zdrojů k finálnímu trénovacímu datasetu.</a:t>
            </a:r>
            <a:endParaRPr lang="en-US" sz="1300" dirty="0"/>
          </a:p>
        </p:txBody>
      </p:sp>
      <p:sp>
        <p:nvSpPr>
          <p:cNvPr id="5" name="Shape 3"/>
          <p:cNvSpPr/>
          <p:nvPr/>
        </p:nvSpPr>
        <p:spPr>
          <a:xfrm>
            <a:off x="640080" y="1828800"/>
            <a:ext cx="3017520" cy="777240"/>
          </a:xfrm>
          <a:prstGeom prst="rect">
            <a:avLst/>
          </a:prstGeom>
          <a:solidFill>
            <a:srgbClr val="F8F8F8"/>
          </a:solidFill>
          <a:ln w="9525">
            <a:solidFill>
              <a:srgbClr val="E5E7EB"/>
            </a:solidFill>
            <a:prstDash val="solid"/>
          </a:ln>
        </p:spPr>
      </p:sp>
      <p:sp>
        <p:nvSpPr>
          <p:cNvPr id="6" name="Text 4"/>
          <p:cNvSpPr/>
          <p:nvPr/>
        </p:nvSpPr>
        <p:spPr>
          <a:xfrm>
            <a:off x="640080" y="1828800"/>
            <a:ext cx="3017520" cy="777240"/>
          </a:xfrm>
          <a:prstGeom prst="rect">
            <a:avLst/>
          </a:prstGeom>
          <a:noFill/>
          <a:ln/>
        </p:spPr>
        <p:txBody>
          <a:bodyPr wrap="square" lIns="635" tIns="635" rIns="635" bIns="635" rtlCol="0" anchor="ctr"/>
          <a:lstStyle/>
          <a:p>
            <a:pPr algn="ctr" indent="0" marL="0">
              <a:buNone/>
            </a:pPr>
            <a:r>
              <a:rPr lang="en-US" sz="1200" b="1" dirty="0">
                <a:solidFill>
                  <a:srgbClr val="2D2D2D"/>
                </a:solidFill>
                <a:latin typeface="Calibri" pitchFamily="34" charset="0"/>
                <a:ea typeface="Calibri" pitchFamily="34" charset="-122"/>
                <a:cs typeface="Calibri" pitchFamily="34" charset="-120"/>
              </a:rPr>
              <a:t>Copernicus DSM 30 m</a:t>
            </a:r>
            <a:endParaRPr lang="en-US" sz="1200" dirty="0"/>
          </a:p>
          <a:p>
            <a:pPr algn="ctr" indent="0" marL="0">
              <a:buNone/>
            </a:pPr>
            <a:r>
              <a:rPr lang="en-US" sz="1000" dirty="0">
                <a:solidFill>
                  <a:srgbClr val="6B7280"/>
                </a:solidFill>
                <a:latin typeface="Calibri" pitchFamily="34" charset="0"/>
                <a:ea typeface="Calibri" pitchFamily="34" charset="-122"/>
                <a:cs typeface="Calibri" pitchFamily="34" charset="-120"/>
              </a:rPr>
              <a:t>PL: EPSG:2180</a:t>
            </a:r>
            <a:endParaRPr lang="en-US" sz="1200" dirty="0"/>
          </a:p>
          <a:p>
            <a:pPr algn="ctr" indent="0" marL="0">
              <a:buNone/>
            </a:pPr>
            <a:r>
              <a:rPr lang="en-US" sz="1000" dirty="0">
                <a:solidFill>
                  <a:srgbClr val="6B7280"/>
                </a:solidFill>
                <a:latin typeface="Calibri" pitchFamily="34" charset="0"/>
                <a:ea typeface="Calibri" pitchFamily="34" charset="-122"/>
                <a:cs typeface="Calibri" pitchFamily="34" charset="-120"/>
              </a:rPr>
              <a:t>NL: EPSG:3035</a:t>
            </a:r>
            <a:endParaRPr lang="en-US" sz="1200" dirty="0"/>
          </a:p>
        </p:txBody>
      </p:sp>
      <p:sp>
        <p:nvSpPr>
          <p:cNvPr id="7" name="Shape 5"/>
          <p:cNvSpPr/>
          <p:nvPr/>
        </p:nvSpPr>
        <p:spPr>
          <a:xfrm>
            <a:off x="4572000" y="1828800"/>
            <a:ext cx="3017520" cy="777240"/>
          </a:xfrm>
          <a:prstGeom prst="rect">
            <a:avLst/>
          </a:prstGeom>
          <a:solidFill>
            <a:srgbClr val="F8F8F8"/>
          </a:solidFill>
          <a:ln w="9525">
            <a:solidFill>
              <a:srgbClr val="E5E7EB"/>
            </a:solidFill>
            <a:prstDash val="solid"/>
          </a:ln>
        </p:spPr>
      </p:sp>
      <p:sp>
        <p:nvSpPr>
          <p:cNvPr id="8" name="Text 6"/>
          <p:cNvSpPr/>
          <p:nvPr/>
        </p:nvSpPr>
        <p:spPr>
          <a:xfrm>
            <a:off x="4572000" y="1828800"/>
            <a:ext cx="3017520" cy="777240"/>
          </a:xfrm>
          <a:prstGeom prst="rect">
            <a:avLst/>
          </a:prstGeom>
          <a:noFill/>
          <a:ln/>
        </p:spPr>
        <p:txBody>
          <a:bodyPr wrap="square" lIns="635" tIns="635" rIns="635" bIns="635" rtlCol="0" anchor="ctr"/>
          <a:lstStyle/>
          <a:p>
            <a:pPr algn="ctr" indent="0" marL="0">
              <a:buNone/>
            </a:pPr>
            <a:r>
              <a:rPr lang="en-US" sz="1200" b="1" dirty="0">
                <a:solidFill>
                  <a:srgbClr val="2D2D2D"/>
                </a:solidFill>
                <a:latin typeface="Calibri" pitchFamily="34" charset="0"/>
                <a:ea typeface="Calibri" pitchFamily="34" charset="-122"/>
                <a:cs typeface="Calibri" pitchFamily="34" charset="-120"/>
              </a:rPr>
              <a:t>MERIT Basins</a:t>
            </a:r>
            <a:endParaRPr lang="en-US" sz="1200" dirty="0"/>
          </a:p>
          <a:p>
            <a:pPr algn="ctr" indent="0" marL="0">
              <a:buNone/>
            </a:pPr>
            <a:r>
              <a:rPr lang="en-US" sz="1000" dirty="0">
                <a:solidFill>
                  <a:srgbClr val="6B7280"/>
                </a:solidFill>
                <a:latin typeface="Calibri" pitchFamily="34" charset="0"/>
                <a:ea typeface="Calibri" pitchFamily="34" charset="-122"/>
                <a:cs typeface="Calibri" pitchFamily="34" charset="-120"/>
              </a:rPr>
              <a:t>river reaches</a:t>
            </a:r>
            <a:endParaRPr lang="en-US" sz="1200" dirty="0"/>
          </a:p>
          <a:p>
            <a:pPr algn="ctr" indent="0" marL="0">
              <a:buNone/>
            </a:pPr>
            <a:r>
              <a:rPr lang="en-US" sz="1000" dirty="0">
                <a:solidFill>
                  <a:srgbClr val="6B7280"/>
                </a:solidFill>
                <a:latin typeface="Calibri" pitchFamily="34" charset="0"/>
                <a:ea typeface="Calibri" pitchFamily="34" charset="-122"/>
                <a:cs typeface="Calibri" pitchFamily="34" charset="-120"/>
              </a:rPr>
              <a:t>+ uparea (km²)</a:t>
            </a:r>
            <a:endParaRPr lang="en-US" sz="1200" dirty="0"/>
          </a:p>
        </p:txBody>
      </p:sp>
      <p:sp>
        <p:nvSpPr>
          <p:cNvPr id="9" name="Shape 7"/>
          <p:cNvSpPr/>
          <p:nvPr/>
        </p:nvSpPr>
        <p:spPr>
          <a:xfrm>
            <a:off x="8503920" y="1828800"/>
            <a:ext cx="3017520" cy="777240"/>
          </a:xfrm>
          <a:prstGeom prst="rect">
            <a:avLst/>
          </a:prstGeom>
          <a:solidFill>
            <a:srgbClr val="F8F8F8"/>
          </a:solidFill>
          <a:ln w="9525">
            <a:solidFill>
              <a:srgbClr val="E5E7EB"/>
            </a:solidFill>
            <a:prstDash val="solid"/>
          </a:ln>
        </p:spPr>
      </p:sp>
      <p:sp>
        <p:nvSpPr>
          <p:cNvPr id="10" name="Text 8"/>
          <p:cNvSpPr/>
          <p:nvPr/>
        </p:nvSpPr>
        <p:spPr>
          <a:xfrm>
            <a:off x="8503920" y="1828800"/>
            <a:ext cx="3017520" cy="777240"/>
          </a:xfrm>
          <a:prstGeom prst="rect">
            <a:avLst/>
          </a:prstGeom>
          <a:noFill/>
          <a:ln/>
        </p:spPr>
        <p:txBody>
          <a:bodyPr wrap="square" lIns="635" tIns="635" rIns="635" bIns="635" rtlCol="0" anchor="ctr"/>
          <a:lstStyle/>
          <a:p>
            <a:pPr algn="ctr" indent="0" marL="0">
              <a:buNone/>
            </a:pPr>
            <a:r>
              <a:rPr lang="en-US" sz="1200" b="1" dirty="0">
                <a:solidFill>
                  <a:srgbClr val="2D2D2D"/>
                </a:solidFill>
                <a:latin typeface="Calibri" pitchFamily="34" charset="0"/>
                <a:ea typeface="Calibri" pitchFamily="34" charset="-122"/>
                <a:cs typeface="Calibri" pitchFamily="34" charset="-120"/>
              </a:rPr>
              <a:t>Labels</a:t>
            </a:r>
            <a:endParaRPr lang="en-US" sz="1200" dirty="0"/>
          </a:p>
          <a:p>
            <a:pPr algn="ctr" indent="0" marL="0">
              <a:buNone/>
            </a:pPr>
            <a:r>
              <a:rPr lang="en-US" sz="1000" dirty="0">
                <a:solidFill>
                  <a:srgbClr val="6B7280"/>
                </a:solidFill>
                <a:latin typeface="Calibri" pitchFamily="34" charset="0"/>
                <a:ea typeface="Calibri" pitchFamily="34" charset="-122"/>
                <a:cs typeface="Calibri" pitchFamily="34" charset="-120"/>
              </a:rPr>
              <a:t>BDOT10k (PL)</a:t>
            </a:r>
            <a:endParaRPr lang="en-US" sz="1200" dirty="0"/>
          </a:p>
          <a:p>
            <a:pPr algn="ctr" indent="0" marL="0">
              <a:buNone/>
            </a:pPr>
            <a:r>
              <a:rPr lang="en-US" sz="1000" dirty="0">
                <a:solidFill>
                  <a:srgbClr val="6B7280"/>
                </a:solidFill>
                <a:latin typeface="Calibri" pitchFamily="34" charset="0"/>
                <a:ea typeface="Calibri" pitchFamily="34" charset="-122"/>
                <a:cs typeface="Calibri" pitchFamily="34" charset="-120"/>
              </a:rPr>
              <a:t>TOP10NL (NL)</a:t>
            </a:r>
            <a:endParaRPr lang="en-US" sz="1200" dirty="0"/>
          </a:p>
        </p:txBody>
      </p:sp>
      <p:sp>
        <p:nvSpPr>
          <p:cNvPr id="11" name="Shape 9"/>
          <p:cNvSpPr/>
          <p:nvPr/>
        </p:nvSpPr>
        <p:spPr>
          <a:xfrm>
            <a:off x="1097280" y="2788920"/>
            <a:ext cx="9966960" cy="685800"/>
          </a:xfrm>
          <a:prstGeom prst="rect">
            <a:avLst/>
          </a:prstGeom>
          <a:solidFill>
            <a:srgbClr val="F8F8F8"/>
          </a:solidFill>
          <a:ln w="9525">
            <a:solidFill>
              <a:srgbClr val="E5E7EB"/>
            </a:solidFill>
            <a:prstDash val="solid"/>
          </a:ln>
        </p:spPr>
      </p:sp>
      <p:sp>
        <p:nvSpPr>
          <p:cNvPr id="12" name="Text 10"/>
          <p:cNvSpPr/>
          <p:nvPr/>
        </p:nvSpPr>
        <p:spPr>
          <a:xfrm>
            <a:off x="1280160" y="2825496"/>
            <a:ext cx="9601200" cy="612648"/>
          </a:xfrm>
          <a:prstGeom prst="rect">
            <a:avLst/>
          </a:prstGeom>
          <a:noFill/>
          <a:ln/>
        </p:spPr>
        <p:txBody>
          <a:bodyPr wrap="square" lIns="0" tIns="0" rIns="0" bIns="0" rtlCol="0" anchor="ctr"/>
          <a:lstStyle/>
          <a:p>
            <a:pPr algn="l" indent="0" marL="0">
              <a:buNone/>
            </a:pPr>
            <a:r>
              <a:rPr lang="en-US" sz="1100" b="1" dirty="0">
                <a:solidFill>
                  <a:srgbClr val="2D2D2D"/>
                </a:solidFill>
                <a:latin typeface="Calibri" pitchFamily="34" charset="0"/>
                <a:ea typeface="Calibri" pitchFamily="34" charset="-122"/>
                <a:cs typeface="Calibri" pitchFamily="34" charset="-120"/>
              </a:rPr>
              <a:t>1.  Hráze rozdělit na 500 m segmenty</a:t>
            </a:r>
            <a:endParaRPr lang="en-US" sz="1100" dirty="0"/>
          </a:p>
          <a:p>
            <a:pPr algn="l" indent="0" marL="0">
              <a:buNone/>
            </a:pPr>
            <a:r>
              <a:rPr lang="en-US" sz="1000" dirty="0">
                <a:solidFill>
                  <a:srgbClr val="6B7280"/>
                </a:solidFill>
                <a:latin typeface="Calibri" pitchFamily="34" charset="0"/>
                <a:ea typeface="Calibri" pitchFamily="34" charset="-122"/>
                <a:cs typeface="Calibri" pitchFamily="34" charset="-120"/>
              </a:rPr>
              <a:t>2.  Každý segment → nejbližší reach s max uparea (do 1000 m)</a:t>
            </a:r>
            <a:endParaRPr lang="en-US" sz="1100" dirty="0"/>
          </a:p>
          <a:p>
            <a:pPr algn="l" indent="0" marL="0">
              <a:buNone/>
            </a:pPr>
            <a:r>
              <a:rPr lang="en-US" sz="1000" dirty="0">
                <a:solidFill>
                  <a:srgbClr val="6B7280"/>
                </a:solidFill>
                <a:latin typeface="Calibri" pitchFamily="34" charset="0"/>
                <a:ea typeface="Calibri" pitchFamily="34" charset="-122"/>
                <a:cs typeface="Calibri" pitchFamily="34" charset="-120"/>
              </a:rPr>
              <a:t>3.  Klasifikace S/M/L: S &lt; 1000 km²,  M &lt; 10000 km²,  L &gt; 10000 km²</a:t>
            </a:r>
            <a:endParaRPr lang="en-US" sz="1100" dirty="0"/>
          </a:p>
        </p:txBody>
      </p:sp>
      <p:sp>
        <p:nvSpPr>
          <p:cNvPr id="13" name="Shape 11"/>
          <p:cNvSpPr/>
          <p:nvPr/>
        </p:nvSpPr>
        <p:spPr>
          <a:xfrm>
            <a:off x="1097280" y="3611880"/>
            <a:ext cx="9966960" cy="685800"/>
          </a:xfrm>
          <a:prstGeom prst="rect">
            <a:avLst/>
          </a:prstGeom>
          <a:solidFill>
            <a:srgbClr val="F8F8F8"/>
          </a:solidFill>
          <a:ln w="9525">
            <a:solidFill>
              <a:srgbClr val="E5E7EB"/>
            </a:solidFill>
            <a:prstDash val="solid"/>
          </a:ln>
        </p:spPr>
      </p:sp>
      <p:sp>
        <p:nvSpPr>
          <p:cNvPr id="14" name="Text 12"/>
          <p:cNvSpPr/>
          <p:nvPr/>
        </p:nvSpPr>
        <p:spPr>
          <a:xfrm>
            <a:off x="1280160" y="3648456"/>
            <a:ext cx="9601200" cy="612648"/>
          </a:xfrm>
          <a:prstGeom prst="rect">
            <a:avLst/>
          </a:prstGeom>
          <a:noFill/>
          <a:ln/>
        </p:spPr>
        <p:txBody>
          <a:bodyPr wrap="square" lIns="0" tIns="0" rIns="0" bIns="0" rtlCol="0" anchor="ctr"/>
          <a:lstStyle/>
          <a:p>
            <a:pPr algn="l" indent="0" marL="0">
              <a:buNone/>
            </a:pPr>
            <a:r>
              <a:rPr lang="en-US" sz="1100" b="1" dirty="0">
                <a:solidFill>
                  <a:srgbClr val="2D2D2D"/>
                </a:solidFill>
                <a:latin typeface="Calibri" pitchFamily="34" charset="0"/>
                <a:ea typeface="Calibri" pitchFamily="34" charset="-122"/>
                <a:cs typeface="Calibri" pitchFamily="34" charset="-120"/>
              </a:rPr>
              <a:t>4.  Pozitivní patch: midpoint segmentu</a:t>
            </a:r>
            <a:endParaRPr lang="en-US" sz="1100" dirty="0"/>
          </a:p>
          <a:p>
            <a:pPr algn="l" indent="0" marL="0">
              <a:buNone/>
            </a:pPr>
            <a:r>
              <a:rPr lang="en-US" sz="1000" dirty="0">
                <a:solidFill>
                  <a:srgbClr val="6B7280"/>
                </a:solidFill>
                <a:latin typeface="Calibri" pitchFamily="34" charset="0"/>
                <a:ea typeface="Calibri" pitchFamily="34" charset="-122"/>
                <a:cs typeface="Calibri" pitchFamily="34" charset="-120"/>
              </a:rPr>
              <a:t>5.  Negativní patch: 1:1 ke každému pozitivnímu, mimo exclusion buffer 100 m</a:t>
            </a:r>
            <a:endParaRPr lang="en-US" sz="1100" dirty="0"/>
          </a:p>
          <a:p>
            <a:pPr algn="l" indent="0" marL="0">
              <a:buNone/>
            </a:pPr>
            <a:r>
              <a:rPr lang="en-US" sz="1000" dirty="0">
                <a:solidFill>
                  <a:srgbClr val="6B7280"/>
                </a:solidFill>
                <a:latin typeface="Calibri" pitchFamily="34" charset="0"/>
                <a:ea typeface="Calibri" pitchFamily="34" charset="-122"/>
                <a:cs typeface="Calibri" pitchFamily="34" charset="-120"/>
              </a:rPr>
              <a:t>     Patch: 256 × 256 px, 10 m/px = 2.56 × 2.56 km</a:t>
            </a:r>
            <a:endParaRPr lang="en-US" sz="1100" dirty="0"/>
          </a:p>
        </p:txBody>
      </p:sp>
      <p:sp>
        <p:nvSpPr>
          <p:cNvPr id="15" name="Shape 13"/>
          <p:cNvSpPr/>
          <p:nvPr/>
        </p:nvSpPr>
        <p:spPr>
          <a:xfrm>
            <a:off x="1097280" y="4434840"/>
            <a:ext cx="9966960" cy="685800"/>
          </a:xfrm>
          <a:prstGeom prst="rect">
            <a:avLst/>
          </a:prstGeom>
          <a:solidFill>
            <a:srgbClr val="F8F8F8"/>
          </a:solidFill>
          <a:ln w="9525">
            <a:solidFill>
              <a:srgbClr val="E5E7EB"/>
            </a:solidFill>
            <a:prstDash val="solid"/>
          </a:ln>
        </p:spPr>
      </p:sp>
      <p:sp>
        <p:nvSpPr>
          <p:cNvPr id="16" name="Text 14"/>
          <p:cNvSpPr/>
          <p:nvPr/>
        </p:nvSpPr>
        <p:spPr>
          <a:xfrm>
            <a:off x="1280160" y="4471416"/>
            <a:ext cx="9601200" cy="612648"/>
          </a:xfrm>
          <a:prstGeom prst="rect">
            <a:avLst/>
          </a:prstGeom>
          <a:noFill/>
          <a:ln/>
        </p:spPr>
        <p:txBody>
          <a:bodyPr wrap="square" lIns="0" tIns="0" rIns="0" bIns="0" rtlCol="0" anchor="ctr"/>
          <a:lstStyle/>
          <a:p>
            <a:pPr algn="l" indent="0" marL="0">
              <a:buNone/>
            </a:pPr>
            <a:r>
              <a:rPr lang="en-US" sz="1100" b="1" dirty="0">
                <a:solidFill>
                  <a:srgbClr val="2D2D2D"/>
                </a:solidFill>
                <a:latin typeface="Calibri" pitchFamily="34" charset="0"/>
                <a:ea typeface="Calibri" pitchFamily="34" charset="-122"/>
                <a:cs typeface="Calibri" pitchFamily="34" charset="-120"/>
              </a:rPr>
              <a:t>6.  Per patch: extrakce a výpočet kanálů</a:t>
            </a:r>
            <a:endParaRPr lang="en-US" sz="1100" dirty="0"/>
          </a:p>
          <a:p>
            <a:pPr algn="l" indent="0" marL="0">
              <a:buNone/>
            </a:pPr>
            <a:r>
              <a:rPr lang="en-US" sz="1000" dirty="0">
                <a:solidFill>
                  <a:srgbClr val="6B7280"/>
                </a:solidFill>
                <a:latin typeface="Calibri" pitchFamily="34" charset="0"/>
                <a:ea typeface="Calibri" pitchFamily="34" charset="-122"/>
                <a:cs typeface="Calibri" pitchFamily="34" charset="-120"/>
              </a:rPr>
              <a:t>DSM,  TPI (3 radiusy),  Canopy Height,  Canopy SD,  rasterizovaný label (buffer 15 m) → 6+1 kanálů</a:t>
            </a:r>
            <a:endParaRPr lang="en-US" sz="1100" dirty="0"/>
          </a:p>
        </p:txBody>
      </p:sp>
      <p:sp>
        <p:nvSpPr>
          <p:cNvPr id="17" name="Shape 15"/>
          <p:cNvSpPr/>
          <p:nvPr/>
        </p:nvSpPr>
        <p:spPr>
          <a:xfrm>
            <a:off x="3200400" y="5349240"/>
            <a:ext cx="5760720" cy="548640"/>
          </a:xfrm>
          <a:prstGeom prst="rect">
            <a:avLst/>
          </a:prstGeom>
          <a:solidFill>
            <a:srgbClr val="1E40AF"/>
          </a:solidFill>
          <a:ln w="12700">
            <a:solidFill>
              <a:srgbClr val="1E40AF"/>
            </a:solidFill>
            <a:prstDash val="solid"/>
          </a:ln>
        </p:spPr>
      </p:sp>
      <p:sp>
        <p:nvSpPr>
          <p:cNvPr id="18" name="Text 16"/>
          <p:cNvSpPr/>
          <p:nvPr/>
        </p:nvSpPr>
        <p:spPr>
          <a:xfrm>
            <a:off x="3200400" y="5349240"/>
            <a:ext cx="57607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Trénovací dataset: .npz patches + metadata CSV</a:t>
            </a:r>
            <a:endParaRPr lang="en-US" sz="1300" dirty="0"/>
          </a:p>
        </p:txBody>
      </p:sp>
      <p:sp>
        <p:nvSpPr>
          <p:cNvPr id="19" name="Text 17"/>
          <p:cNvSpPr/>
          <p:nvPr/>
        </p:nvSpPr>
        <p:spPr>
          <a:xfrm>
            <a:off x="457200" y="6080760"/>
            <a:ext cx="11247120" cy="45720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Vlastní podstata stratifikace: stejná hráz na Visle a stejná hráz na malém přítoku jsou pro model různé objekty. S/M/L kategorie umožňují vyhodnotit detekci pro každou velikost zvlášť.</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Volba přístupu — 2D segmentace v říčních koridorech</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96012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Volba metodologického přístupu je výsledkem zvážení čtyř alternativ, které jsem ve fázi rešerše porovnal. Žádná z nich nebyla automaticky správná — každá má své silné stránky i limitace. Klíčový argument pro 2D segmentaci omezenou na říční koridory je kombinace dvou věcí: dostatečná class balance pro stabilní trénink a fyzikálně motivovaný spatial prior, který odpovídá reálnému rozmístění hrází v krajině.</a:t>
            </a:r>
            <a:endParaRPr lang="en-US" sz="1300" dirty="0"/>
          </a:p>
        </p:txBody>
      </p:sp>
      <p:sp>
        <p:nvSpPr>
          <p:cNvPr id="5" name="Text 3"/>
          <p:cNvSpPr/>
          <p:nvPr/>
        </p:nvSpPr>
        <p:spPr>
          <a:xfrm>
            <a:off x="457200" y="201168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Zvažované alternativy</a:t>
            </a:r>
            <a:endParaRPr lang="en-US" sz="1300" dirty="0"/>
          </a:p>
        </p:txBody>
      </p:sp>
      <p:sp>
        <p:nvSpPr>
          <p:cNvPr id="6" name="Text 4"/>
          <p:cNvSpPr/>
          <p:nvPr/>
        </p:nvSpPr>
        <p:spPr>
          <a:xfrm>
            <a:off x="640080" y="2331720"/>
            <a:ext cx="10972800" cy="12801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A) Pronk + CNN klasifikátor — depression filling (Priority-Flood) + ML klasifikace kandidátů</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B) 2D segmentace celého rastru — end-to-end DL bez prostorového omezení</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C) Geomorfometrie + RF/XGBoost — klasický ML na ručních features (TPI, slope, curvature)</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D) DSM → DTM korekce + Pronk — replikace přístupu Fathom</a:t>
            </a:r>
            <a:endParaRPr lang="en-US" sz="1200" dirty="0"/>
          </a:p>
        </p:txBody>
      </p:sp>
      <p:sp>
        <p:nvSpPr>
          <p:cNvPr id="7" name="Text 5"/>
          <p:cNvSpPr/>
          <p:nvPr/>
        </p:nvSpPr>
        <p:spPr>
          <a:xfrm>
            <a:off x="457200" y="370332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Důvody odmítnutí</a:t>
            </a:r>
            <a:endParaRPr lang="en-US" sz="1300" dirty="0"/>
          </a:p>
        </p:txBody>
      </p:sp>
      <p:sp>
        <p:nvSpPr>
          <p:cNvPr id="8" name="Text 6"/>
          <p:cNvSpPr/>
          <p:nvPr/>
        </p:nvSpPr>
        <p:spPr>
          <a:xfrm>
            <a:off x="640080" y="4023360"/>
            <a:ext cx="10972800" cy="14630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Pronk (A): publikovaný jako preprint 2026, riziko vystavět celou diplomku na nerecenzované metodě</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Celý raster (B): class imbalance &lt; 0.1 %, vyžaduje agresivní weighted loss a stabilní detektor false positives globálně</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RF/XGBoost (C): low ceiling, oponent může odmítnout metodu jako nepřinášející novost vůči state-of-the-art</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DSM korekce (D): replikace komerčního Fathom, výpočetně neúměrné, riziko halucinací DTM (Guth et al. 2025)</a:t>
            </a:r>
            <a:endParaRPr lang="en-US" sz="1200" dirty="0"/>
          </a:p>
        </p:txBody>
      </p:sp>
      <p:sp>
        <p:nvSpPr>
          <p:cNvPr id="9" name="Text 7"/>
          <p:cNvSpPr/>
          <p:nvPr/>
        </p:nvSpPr>
        <p:spPr>
          <a:xfrm>
            <a:off x="457200" y="557784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Co zvolený přístup řeší</a:t>
            </a:r>
            <a:endParaRPr lang="en-US" sz="1300" dirty="0"/>
          </a:p>
        </p:txBody>
      </p:sp>
      <p:sp>
        <p:nvSpPr>
          <p:cNvPr id="10" name="Text 8"/>
          <p:cNvSpPr/>
          <p:nvPr/>
        </p:nvSpPr>
        <p:spPr>
          <a:xfrm>
            <a:off x="640080" y="5897880"/>
            <a:ext cx="10972800"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Class imbalance — buffer 500 m kolem řek zvedne podíl pozitivních pixelů z ~0.1 % na ~3 %</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Spatial prior odpovídá realitě — hráz je z definice u řeky, není potřeba ji učit modelem</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Stratifikace S/M/L vychází z MERIT uparea a umožňuje cílenou evaluaci</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Volba dat — Polsko + Nizozemsko</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114300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Kombinace polských a nizozemských dat má dva hlavní důvody. Za prvé, polské hráze v okolí Visly a Odry jsou v evropském kontextu mimořádně masivní — gate test ukázal mediánovou prominenci 7 m, což je výrazně víc než u typických evropských protipovodňových bariér. Bez doplnění dalšího regionu by se model mohl naučit detekovat jen velké struktury. Za druhé, oba zdroje labelů (BDOT10k a TOP10NL) jsou národní topografické databáze v 10k měřítku, což garantuje konzistenci charakteristik label noise napříč regiony.</a:t>
            </a:r>
            <a:endParaRPr lang="en-US" sz="1300" dirty="0"/>
          </a:p>
        </p:txBody>
      </p:sp>
      <p:sp>
        <p:nvSpPr>
          <p:cNvPr id="5" name="Shape 3"/>
          <p:cNvSpPr/>
          <p:nvPr/>
        </p:nvSpPr>
        <p:spPr>
          <a:xfrm>
            <a:off x="457200" y="2194560"/>
            <a:ext cx="5486400" cy="1828800"/>
          </a:xfrm>
          <a:prstGeom prst="rect">
            <a:avLst/>
          </a:prstGeom>
          <a:solidFill>
            <a:srgbClr val="F8F8F8"/>
          </a:solidFill>
          <a:ln w="9525">
            <a:solidFill>
              <a:srgbClr val="E5E7EB"/>
            </a:solidFill>
            <a:prstDash val="solid"/>
          </a:ln>
        </p:spPr>
      </p:sp>
      <p:sp>
        <p:nvSpPr>
          <p:cNvPr id="6" name="Text 4"/>
          <p:cNvSpPr/>
          <p:nvPr/>
        </p:nvSpPr>
        <p:spPr>
          <a:xfrm>
            <a:off x="640080" y="2286000"/>
            <a:ext cx="5212080" cy="320040"/>
          </a:xfrm>
          <a:prstGeom prst="rect">
            <a:avLst/>
          </a:prstGeom>
          <a:noFill/>
          <a:ln/>
        </p:spPr>
        <p:txBody>
          <a:bodyPr wrap="square" lIns="0" tIns="0" rIns="0" bIns="0" rtlCol="0" anchor="ctr"/>
          <a:lstStyle/>
          <a:p>
            <a:pPr indent="0" marL="0">
              <a:buNone/>
            </a:pPr>
            <a:r>
              <a:rPr lang="en-US" sz="1400" b="1" dirty="0">
                <a:solidFill>
                  <a:srgbClr val="1E40AF"/>
                </a:solidFill>
                <a:latin typeface="Calibri" pitchFamily="34" charset="0"/>
                <a:ea typeface="Calibri" pitchFamily="34" charset="-122"/>
                <a:cs typeface="Calibri" pitchFamily="34" charset="-120"/>
              </a:rPr>
              <a:t>Polsko (primární region)</a:t>
            </a:r>
            <a:endParaRPr lang="en-US" sz="1400" dirty="0"/>
          </a:p>
        </p:txBody>
      </p:sp>
      <p:sp>
        <p:nvSpPr>
          <p:cNvPr id="7" name="Text 5"/>
          <p:cNvSpPr/>
          <p:nvPr/>
        </p:nvSpPr>
        <p:spPr>
          <a:xfrm>
            <a:off x="640080" y="2606040"/>
            <a:ext cx="5212080" cy="13258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BDOT10k: kategorie wał przeciwpowodziowy</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204 964 features pro celou zemi</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Konzistentní topografická databáze 10k měřítka</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Hráze masivní (mediánová prominence v DSM 7.1 m)</a:t>
            </a:r>
            <a:endParaRPr lang="en-US" sz="1100" dirty="0"/>
          </a:p>
        </p:txBody>
      </p:sp>
      <p:sp>
        <p:nvSpPr>
          <p:cNvPr id="8" name="Shape 6"/>
          <p:cNvSpPr/>
          <p:nvPr/>
        </p:nvSpPr>
        <p:spPr>
          <a:xfrm>
            <a:off x="6217920" y="2194560"/>
            <a:ext cx="5486400" cy="1828800"/>
          </a:xfrm>
          <a:prstGeom prst="rect">
            <a:avLst/>
          </a:prstGeom>
          <a:solidFill>
            <a:srgbClr val="F8F8F8"/>
          </a:solidFill>
          <a:ln w="9525">
            <a:solidFill>
              <a:srgbClr val="E5E7EB"/>
            </a:solidFill>
            <a:prstDash val="solid"/>
          </a:ln>
        </p:spPr>
      </p:sp>
      <p:sp>
        <p:nvSpPr>
          <p:cNvPr id="9" name="Text 7"/>
          <p:cNvSpPr/>
          <p:nvPr/>
        </p:nvSpPr>
        <p:spPr>
          <a:xfrm>
            <a:off x="6400800" y="2286000"/>
            <a:ext cx="5212080" cy="320040"/>
          </a:xfrm>
          <a:prstGeom prst="rect">
            <a:avLst/>
          </a:prstGeom>
          <a:noFill/>
          <a:ln/>
        </p:spPr>
        <p:txBody>
          <a:bodyPr wrap="square" lIns="0" tIns="0" rIns="0" bIns="0" rtlCol="0" anchor="ctr"/>
          <a:lstStyle/>
          <a:p>
            <a:pPr indent="0" marL="0">
              <a:buNone/>
            </a:pPr>
            <a:r>
              <a:rPr lang="en-US" sz="1400" b="1" dirty="0">
                <a:solidFill>
                  <a:srgbClr val="1E40AF"/>
                </a:solidFill>
                <a:latin typeface="Calibri" pitchFamily="34" charset="0"/>
                <a:ea typeface="Calibri" pitchFamily="34" charset="-122"/>
                <a:cs typeface="Calibri" pitchFamily="34" charset="-120"/>
              </a:rPr>
              <a:t>Nizozemsko (rozšíření)</a:t>
            </a:r>
            <a:endParaRPr lang="en-US" sz="1400" dirty="0"/>
          </a:p>
        </p:txBody>
      </p:sp>
      <p:sp>
        <p:nvSpPr>
          <p:cNvPr id="10" name="Text 8"/>
          <p:cNvSpPr/>
          <p:nvPr/>
        </p:nvSpPr>
        <p:spPr>
          <a:xfrm>
            <a:off x="6400800" y="2606040"/>
            <a:ext cx="5212080" cy="13258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TOP10NL: třída dijk z národní topografické databáze</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Konzistentní s polským BDOT10k (oba 10k měřítko)</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Hráze nižší (typicky 2–4 m), polderový kontext</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Diverzita typů: říční hráze, polderové prstence</a:t>
            </a:r>
            <a:endParaRPr lang="en-US" sz="1100" dirty="0"/>
          </a:p>
        </p:txBody>
      </p:sp>
      <p:sp>
        <p:nvSpPr>
          <p:cNvPr id="11" name="Text 9"/>
          <p:cNvSpPr/>
          <p:nvPr/>
        </p:nvSpPr>
        <p:spPr>
          <a:xfrm>
            <a:off x="457200" y="411480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Co kombinace přináší a co ne</a:t>
            </a:r>
            <a:endParaRPr lang="en-US" sz="1300" dirty="0"/>
          </a:p>
        </p:txBody>
      </p:sp>
      <p:sp>
        <p:nvSpPr>
          <p:cNvPr id="12" name="Text 10"/>
          <p:cNvSpPr/>
          <p:nvPr/>
        </p:nvSpPr>
        <p:spPr>
          <a:xfrm>
            <a:off x="640080" y="4434840"/>
            <a:ext cx="10972800" cy="14630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  Diverzita velikosti hrází (PL velké, NL menší) a geometrie (lineární vs. polderové)</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  Klima a vegetace srovnatelné — méně domain shift, čistější test typologické diverzity</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  Globální generalizace tím není ověřená (jen 2 evropské regiony, klimaticky podobné)</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  Specifické kontexty (USA prairie, tropické delty, aridní oblasti) zůstávají mimo scope</a:t>
            </a:r>
            <a:endParaRPr lang="en-US" sz="1200" dirty="0"/>
          </a:p>
        </p:txBody>
      </p:sp>
      <p:sp>
        <p:nvSpPr>
          <p:cNvPr id="13" name="Text 11"/>
          <p:cNvSpPr/>
          <p:nvPr/>
        </p:nvSpPr>
        <p:spPr>
          <a:xfrm>
            <a:off x="457200" y="598932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Společný spatial prior</a:t>
            </a:r>
            <a:endParaRPr lang="en-US" sz="1300" dirty="0"/>
          </a:p>
        </p:txBody>
      </p:sp>
      <p:sp>
        <p:nvSpPr>
          <p:cNvPr id="14" name="Text 12"/>
          <p:cNvSpPr/>
          <p:nvPr/>
        </p:nvSpPr>
        <p:spPr>
          <a:xfrm>
            <a:off x="640080" y="6309360"/>
            <a:ext cx="10972800" cy="3657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MERIT Hydro Basins (pfaf_02, Evropa) — river reaches s atributem uparea (km²), použito pro koridor i pro stratifikaci S/M/L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Architektura modelu</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128016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Volba dvou architektur (baseline + hlavní model) odpovídá standardní vědecké praxi: baseline poskytuje referenční bod, hlavní model ukazuje příspěvek nad ním. ResNet-UNet je dobře zavedená kombinace konvenčního CNN encoderu s U-Net decoderem, snadno se ladí a má předvídatelné chování. SegFormer reprezentuje současný state-of-the-art a využívá transformer encoder s multi-scale attention, což je obzvlášť relevantní pro detekci tenkých liniových struktur. Pokud SegFormer nepřekoná baseline, získám stejně cenné poznání o limitech transformerů na této úloze.</a:t>
            </a:r>
            <a:endParaRPr lang="en-US" sz="1300" dirty="0"/>
          </a:p>
        </p:txBody>
      </p:sp>
      <p:sp>
        <p:nvSpPr>
          <p:cNvPr id="5" name="Shape 3"/>
          <p:cNvSpPr/>
          <p:nvPr/>
        </p:nvSpPr>
        <p:spPr>
          <a:xfrm>
            <a:off x="457200" y="2331720"/>
            <a:ext cx="5577840" cy="1783080"/>
          </a:xfrm>
          <a:prstGeom prst="rect">
            <a:avLst/>
          </a:prstGeom>
          <a:solidFill>
            <a:srgbClr val="F8F8F8"/>
          </a:solidFill>
          <a:ln w="9525">
            <a:solidFill>
              <a:srgbClr val="E5E7EB"/>
            </a:solidFill>
            <a:prstDash val="solid"/>
          </a:ln>
        </p:spPr>
      </p:sp>
      <p:sp>
        <p:nvSpPr>
          <p:cNvPr id="6" name="Text 4"/>
          <p:cNvSpPr/>
          <p:nvPr/>
        </p:nvSpPr>
        <p:spPr>
          <a:xfrm>
            <a:off x="640080" y="2423160"/>
            <a:ext cx="5212080" cy="320040"/>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Baseline — ResNet-UNet (~24M params)</a:t>
            </a:r>
            <a:endParaRPr lang="en-US" sz="1300" dirty="0"/>
          </a:p>
        </p:txBody>
      </p:sp>
      <p:sp>
        <p:nvSpPr>
          <p:cNvPr id="7" name="Text 5"/>
          <p:cNvSpPr/>
          <p:nvPr/>
        </p:nvSpPr>
        <p:spPr>
          <a:xfrm>
            <a:off x="640080" y="2743200"/>
            <a:ext cx="5212080" cy="13258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ResNet34 backbone, ImageNet pretrained</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Konvenční CNN, předvídatelné chování</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Rychlejší trénink, snadnější debugging</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Standardní benchmark v segmentaci</a:t>
            </a:r>
            <a:endParaRPr lang="en-US" sz="1100" dirty="0"/>
          </a:p>
        </p:txBody>
      </p:sp>
      <p:sp>
        <p:nvSpPr>
          <p:cNvPr id="8" name="Shape 6"/>
          <p:cNvSpPr/>
          <p:nvPr/>
        </p:nvSpPr>
        <p:spPr>
          <a:xfrm>
            <a:off x="6217920" y="2331720"/>
            <a:ext cx="5486400" cy="1783080"/>
          </a:xfrm>
          <a:prstGeom prst="rect">
            <a:avLst/>
          </a:prstGeom>
          <a:solidFill>
            <a:srgbClr val="F8F8F8"/>
          </a:solidFill>
          <a:ln w="9525">
            <a:solidFill>
              <a:srgbClr val="E5E7EB"/>
            </a:solidFill>
            <a:prstDash val="solid"/>
          </a:ln>
        </p:spPr>
      </p:sp>
      <p:sp>
        <p:nvSpPr>
          <p:cNvPr id="9" name="Text 7"/>
          <p:cNvSpPr/>
          <p:nvPr/>
        </p:nvSpPr>
        <p:spPr>
          <a:xfrm>
            <a:off x="6400800" y="2423160"/>
            <a:ext cx="5212080" cy="320040"/>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Hlavní model — SegFormer (~27M params)</a:t>
            </a:r>
            <a:endParaRPr lang="en-US" sz="1300" dirty="0"/>
          </a:p>
        </p:txBody>
      </p:sp>
      <p:sp>
        <p:nvSpPr>
          <p:cNvPr id="10" name="Text 8"/>
          <p:cNvSpPr/>
          <p:nvPr/>
        </p:nvSpPr>
        <p:spPr>
          <a:xfrm>
            <a:off x="6400800" y="2743200"/>
            <a:ext cx="5212080" cy="13258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MIT-B2 transformer encoder + MLP head</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Efficient self-attention, multi-scale</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Současný state-of-the-art segmentace</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Reference: Xie et al. 2021, NeurIPS</a:t>
            </a:r>
            <a:endParaRPr lang="en-US" sz="1100" dirty="0"/>
          </a:p>
        </p:txBody>
      </p:sp>
      <p:sp>
        <p:nvSpPr>
          <p:cNvPr id="11" name="Text 9"/>
          <p:cNvSpPr/>
          <p:nvPr/>
        </p:nvSpPr>
        <p:spPr>
          <a:xfrm>
            <a:off x="457200" y="425196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Vstupy: 6 kanálů + adaptace pretrained vah</a:t>
            </a:r>
            <a:endParaRPr lang="en-US" sz="1300" dirty="0"/>
          </a:p>
        </p:txBody>
      </p:sp>
      <p:sp>
        <p:nvSpPr>
          <p:cNvPr id="12" name="Text 10"/>
          <p:cNvSpPr/>
          <p:nvPr/>
        </p:nvSpPr>
        <p:spPr>
          <a:xfrm>
            <a:off x="457200" y="4617720"/>
            <a:ext cx="11247120" cy="86868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Vstupních kanálů je 6 a zahrnují elevační i kontextovou informaci. ResNet pretrained na ImageNet očekává 3 RGB kanály — řeším to replikací první konvoluční vrstvy z 3 na 6 kanálů s rescalingem vah, aby se zachovaly ImageNet features alespoň částečně.</a:t>
            </a:r>
            <a:endParaRPr lang="en-US" sz="1300" dirty="0"/>
          </a:p>
        </p:txBody>
      </p:sp>
      <p:sp>
        <p:nvSpPr>
          <p:cNvPr id="13" name="Text 11"/>
          <p:cNvSpPr/>
          <p:nvPr/>
        </p:nvSpPr>
        <p:spPr>
          <a:xfrm>
            <a:off x="640080" y="5532120"/>
            <a:ext cx="10972800" cy="1005840"/>
          </a:xfrm>
          <a:prstGeom prst="rect">
            <a:avLst/>
          </a:prstGeom>
          <a:noFill/>
          <a:ln/>
        </p:spPr>
        <p:txBody>
          <a:bodyPr wrap="square" lIns="0" tIns="0" rIns="0" bIns="0" rtlCol="0" anchor="t"/>
          <a:lstStyle/>
          <a:p>
            <a:pPr indent="0" marL="0">
              <a:spcAft>
                <a:spcPts val="400"/>
              </a:spcAft>
              <a:buNone/>
            </a:pPr>
            <a:r>
              <a:rPr lang="en-US" sz="1200" b="1" dirty="0">
                <a:solidFill>
                  <a:srgbClr val="2D2D2D"/>
                </a:solidFill>
                <a:latin typeface="Calibri" pitchFamily="34" charset="0"/>
                <a:ea typeface="Calibri" pitchFamily="34" charset="-122"/>
                <a:cs typeface="Calibri" pitchFamily="34" charset="-120"/>
              </a:rPr>
              <a:t>DSM </a:t>
            </a:r>
            <a:pPr indent="0" marL="0">
              <a:spcAft>
                <a:spcPts val="400"/>
              </a:spcAft>
              <a:buNone/>
            </a:pPr>
            <a:r>
              <a:rPr lang="en-US" sz="1200" dirty="0">
                <a:solidFill>
                  <a:srgbClr val="2D2D2D"/>
                </a:solidFill>
                <a:latin typeface="Calibri" pitchFamily="34" charset="0"/>
                <a:ea typeface="Calibri" pitchFamily="34" charset="-122"/>
                <a:cs typeface="Calibri" pitchFamily="34" charset="-120"/>
              </a:rPr>
              <a:t>— elevace, primární signál</a:t>
            </a:r>
            <a:endParaRPr lang="en-US" sz="1200" dirty="0"/>
          </a:p>
          <a:p>
            <a:pPr indent="0" marL="0">
              <a:spcAft>
                <a:spcPts val="400"/>
              </a:spcAft>
              <a:buNone/>
            </a:pPr>
            <a:r>
              <a:rPr lang="en-US" sz="1200" b="1" dirty="0">
                <a:solidFill>
                  <a:srgbClr val="2D2D2D"/>
                </a:solidFill>
                <a:latin typeface="Calibri" pitchFamily="34" charset="0"/>
                <a:ea typeface="Calibri" pitchFamily="34" charset="-122"/>
                <a:cs typeface="Calibri" pitchFamily="34" charset="-120"/>
              </a:rPr>
              <a:t>TPI r5 / r10 / r15 </a:t>
            </a:r>
            <a:pPr indent="0" marL="0">
              <a:spcAft>
                <a:spcPts val="400"/>
              </a:spcAft>
              <a:buNone/>
            </a:pPr>
            <a:r>
              <a:rPr lang="en-US" sz="1200" dirty="0">
                <a:solidFill>
                  <a:srgbClr val="2D2D2D"/>
                </a:solidFill>
                <a:latin typeface="Calibri" pitchFamily="34" charset="0"/>
                <a:ea typeface="Calibri" pitchFamily="34" charset="-122"/>
                <a:cs typeface="Calibri" pitchFamily="34" charset="-120"/>
              </a:rPr>
              <a:t>— Topographic Position Index na 50 / 100 / 150 m</a:t>
            </a:r>
            <a:endParaRPr lang="en-US" sz="1200" dirty="0"/>
          </a:p>
          <a:p>
            <a:pPr indent="0" marL="0">
              <a:spcAft>
                <a:spcPts val="400"/>
              </a:spcAft>
              <a:buNone/>
            </a:pPr>
            <a:r>
              <a:rPr lang="en-US" sz="1200" b="1" dirty="0">
                <a:solidFill>
                  <a:srgbClr val="2D2D2D"/>
                </a:solidFill>
                <a:latin typeface="Calibri" pitchFamily="34" charset="0"/>
                <a:ea typeface="Calibri" pitchFamily="34" charset="-122"/>
                <a:cs typeface="Calibri" pitchFamily="34" charset="-120"/>
              </a:rPr>
              <a:t>Canopy Height + SD </a:t>
            </a:r>
            <a:pPr indent="0" marL="0">
              <a:spcAft>
                <a:spcPts val="400"/>
              </a:spcAft>
              <a:buNone/>
            </a:pPr>
            <a:r>
              <a:rPr lang="en-US" sz="1200" dirty="0">
                <a:solidFill>
                  <a:srgbClr val="2D2D2D"/>
                </a:solidFill>
                <a:latin typeface="Calibri" pitchFamily="34" charset="0"/>
                <a:ea typeface="Calibri" pitchFamily="34" charset="-122"/>
                <a:cs typeface="Calibri" pitchFamily="34" charset="-120"/>
              </a:rPr>
              <a:t>— ETH Global Canopy Height (Lang et al. 2023) + nejistota canopy odhadu</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Loss funkce a tréninkové parametry</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91440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Klíčovým rozhodnutím v této oblasti je volba loss funkce, která reflektuje povahu cílové struktury. Standardní Dice loss měří pixel overlap, ale netrestá fragmentaci výsledku — model může generovat rozbité linie a Dice je s tím spokojený. Kombinace s clDice (Shit et al. 2021) řeší přesně tento problém: měří překryv na morfologických kostrách predikce a labelu.</a:t>
            </a:r>
            <a:endParaRPr lang="en-US" sz="1300" dirty="0"/>
          </a:p>
        </p:txBody>
      </p:sp>
      <p:sp>
        <p:nvSpPr>
          <p:cNvPr id="5" name="Text 3"/>
          <p:cNvSpPr/>
          <p:nvPr/>
        </p:nvSpPr>
        <p:spPr>
          <a:xfrm>
            <a:off x="457200" y="192024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Loss: clDice + Dice combo</a:t>
            </a:r>
            <a:endParaRPr lang="en-US" sz="1300" dirty="0"/>
          </a:p>
        </p:txBody>
      </p:sp>
      <p:sp>
        <p:nvSpPr>
          <p:cNvPr id="6" name="Text 4"/>
          <p:cNvSpPr/>
          <p:nvPr/>
        </p:nvSpPr>
        <p:spPr>
          <a:xfrm>
            <a:off x="640080" y="2286000"/>
            <a:ext cx="10972800" cy="320040"/>
          </a:xfrm>
          <a:prstGeom prst="rect">
            <a:avLst/>
          </a:prstGeom>
          <a:noFill/>
          <a:ln/>
        </p:spPr>
        <p:txBody>
          <a:bodyPr wrap="square" lIns="0" tIns="0" rIns="0" bIns="0" rtlCol="0" anchor="ctr"/>
          <a:lstStyle/>
          <a:p>
            <a:pPr indent="0" marL="0">
              <a:buNone/>
            </a:pPr>
            <a:r>
              <a:rPr lang="en-US" sz="1300" b="1" dirty="0">
                <a:solidFill>
                  <a:srgbClr val="2D2D2D"/>
                </a:solidFill>
                <a:latin typeface="Consolas" pitchFamily="34" charset="0"/>
                <a:ea typeface="Consolas" pitchFamily="34" charset="-122"/>
                <a:cs typeface="Consolas" pitchFamily="34" charset="-120"/>
              </a:rPr>
              <a:t>L = α · L_Dice + (1 − α) · L_clDice</a:t>
            </a:r>
            <a:pPr indent="0" marL="0">
              <a:buNone/>
            </a:pPr>
            <a:r>
              <a:rPr lang="en-US" sz="1300" dirty="0">
                <a:solidFill>
                  <a:srgbClr val="6B7280"/>
                </a:solidFill>
                <a:latin typeface="Consolas" pitchFamily="34" charset="0"/>
                <a:ea typeface="Consolas" pitchFamily="34" charset="-122"/>
                <a:cs typeface="Consolas" pitchFamily="34" charset="-120"/>
              </a:rPr>
              <a:t>       α = 0.5</a:t>
            </a:r>
            <a:endParaRPr lang="en-US" sz="1300" dirty="0"/>
          </a:p>
        </p:txBody>
      </p:sp>
      <p:sp>
        <p:nvSpPr>
          <p:cNvPr id="7" name="Text 5"/>
          <p:cNvSpPr/>
          <p:nvPr/>
        </p:nvSpPr>
        <p:spPr>
          <a:xfrm>
            <a:off x="457200" y="274320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Tréninkové parametry</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3108960"/>
          <a:ext cx="10972800" cy="914400"/>
        </p:xfrm>
        <a:graphic>
          <a:graphicData uri="http://schemas.openxmlformats.org/drawingml/2006/table">
            <a:tbl>
              <a:tblPr/>
              <a:tblGrid>
                <a:gridCol w="3200400"/>
                <a:gridCol w="7772400"/>
              </a:tblGrid>
              <a:tr h="256032">
                <a:tc>
                  <a:txBody>
                    <a:bodyPr/>
                    <a:lstStyle/>
                    <a:p>
                      <a:pPr indent="0" marL="0">
                        <a:buNone/>
                      </a:pPr>
                      <a:r>
                        <a:rPr lang="en-US" sz="1100" b="1" dirty="0">
                          <a:solidFill>
                            <a:srgbClr val="2D2D2D"/>
                          </a:solidFill>
                          <a:latin typeface="Calibri" pitchFamily="34" charset="0"/>
                          <a:ea typeface="Calibri" pitchFamily="34" charset="-122"/>
                          <a:cs typeface="Calibri" pitchFamily="34" charset="-120"/>
                        </a:rPr>
                        <a:t>Batch size</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2D2D2D"/>
                          </a:solidFill>
                          <a:latin typeface="Consolas" pitchFamily="34" charset="0"/>
                          <a:ea typeface="Consolas" pitchFamily="34" charset="-122"/>
                          <a:cs typeface="Consolas" pitchFamily="34" charset="-120"/>
                        </a:rPr>
                        <a:t>16</a:t>
                      </a:r>
                      <a:endParaRPr lang="en-US" sz="1100" dirty="0">
                        <a:latin typeface="Consolas" charset="0"/>
                        <a:ea typeface="Consolas" charset="0"/>
                        <a:cs typeface="Consolas" charset="0"/>
                      </a:endParaRPr>
                    </a:p>
                  </a:txBody>
                  <a:tcPr marL="36576" marR="36576" marT="36576" marB="36576">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rgbClr val="2D2D2D"/>
                          </a:solidFill>
                          <a:latin typeface="Calibri" pitchFamily="34" charset="0"/>
                          <a:ea typeface="Calibri" pitchFamily="34" charset="-122"/>
                          <a:cs typeface="Calibri" pitchFamily="34" charset="-120"/>
                        </a:rPr>
                        <a:t>Optimizer</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2D2D2D"/>
                          </a:solidFill>
                          <a:latin typeface="Consolas" pitchFamily="34" charset="0"/>
                          <a:ea typeface="Consolas" pitchFamily="34" charset="-122"/>
                          <a:cs typeface="Consolas" pitchFamily="34" charset="-120"/>
                        </a:rPr>
                        <a:t>AdamW (lr=1e-4, weight_decay=1e-4)</a:t>
                      </a:r>
                      <a:endParaRPr lang="en-US" sz="1100" dirty="0">
                        <a:latin typeface="Consolas" charset="0"/>
                        <a:ea typeface="Consolas" charset="0"/>
                        <a:cs typeface="Consolas" charset="0"/>
                      </a:endParaRPr>
                    </a:p>
                  </a:txBody>
                  <a:tcPr marL="36576" marR="36576" marT="36576" marB="36576">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rgbClr val="2D2D2D"/>
                          </a:solidFill>
                          <a:latin typeface="Calibri" pitchFamily="34" charset="0"/>
                          <a:ea typeface="Calibri" pitchFamily="34" charset="-122"/>
                          <a:cs typeface="Calibri" pitchFamily="34" charset="-120"/>
                        </a:rPr>
                        <a:t>Scheduler</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2D2D2D"/>
                          </a:solidFill>
                          <a:latin typeface="Consolas" pitchFamily="34" charset="0"/>
                          <a:ea typeface="Consolas" pitchFamily="34" charset="-122"/>
                          <a:cs typeface="Consolas" pitchFamily="34" charset="-120"/>
                        </a:rPr>
                        <a:t>CosineAnnealingLR</a:t>
                      </a:r>
                      <a:endParaRPr lang="en-US" sz="1100" dirty="0">
                        <a:latin typeface="Consolas" charset="0"/>
                        <a:ea typeface="Consolas" charset="0"/>
                        <a:cs typeface="Consolas" charset="0"/>
                      </a:endParaRPr>
                    </a:p>
                  </a:txBody>
                  <a:tcPr marL="36576" marR="36576" marT="36576" marB="36576">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rgbClr val="2D2D2D"/>
                          </a:solidFill>
                          <a:latin typeface="Calibri" pitchFamily="34" charset="0"/>
                          <a:ea typeface="Calibri" pitchFamily="34" charset="-122"/>
                          <a:cs typeface="Calibri" pitchFamily="34" charset="-120"/>
                        </a:rPr>
                        <a:t>Mixed precision</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2D2D2D"/>
                          </a:solidFill>
                          <a:latin typeface="Consolas" pitchFamily="34" charset="0"/>
                          <a:ea typeface="Consolas" pitchFamily="34" charset="-122"/>
                          <a:cs typeface="Consolas" pitchFamily="34" charset="-120"/>
                        </a:rPr>
                        <a:t>FP16 + GradScaler</a:t>
                      </a:r>
                      <a:endParaRPr lang="en-US" sz="1100" dirty="0">
                        <a:latin typeface="Consolas" charset="0"/>
                        <a:ea typeface="Consolas" charset="0"/>
                        <a:cs typeface="Consolas" charset="0"/>
                      </a:endParaRPr>
                    </a:p>
                  </a:txBody>
                  <a:tcPr marL="36576" marR="36576" marT="36576" marB="36576">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rgbClr val="2D2D2D"/>
                          </a:solidFill>
                          <a:latin typeface="Calibri" pitchFamily="34" charset="0"/>
                          <a:ea typeface="Calibri" pitchFamily="34" charset="-122"/>
                          <a:cs typeface="Calibri" pitchFamily="34" charset="-120"/>
                        </a:rPr>
                        <a:t>Gradient clipping</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2D2D2D"/>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36576" marR="36576" marT="36576" marB="36576">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rgbClr val="2D2D2D"/>
                          </a:solidFill>
                          <a:latin typeface="Calibri" pitchFamily="34" charset="0"/>
                          <a:ea typeface="Calibri" pitchFamily="34" charset="-122"/>
                          <a:cs typeface="Calibri" pitchFamily="34" charset="-120"/>
                        </a:rPr>
                        <a:t>Epochs</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2D2D2D"/>
                          </a:solidFill>
                          <a:latin typeface="Consolas" pitchFamily="34" charset="0"/>
                          <a:ea typeface="Consolas" pitchFamily="34" charset="-122"/>
                          <a:cs typeface="Consolas" pitchFamily="34" charset="-120"/>
                        </a:rPr>
                        <a:t>50</a:t>
                      </a:r>
                      <a:endParaRPr lang="en-US" sz="1100" dirty="0">
                        <a:latin typeface="Consolas" charset="0"/>
                        <a:ea typeface="Consolas" charset="0"/>
                        <a:cs typeface="Consolas" charset="0"/>
                      </a:endParaRPr>
                    </a:p>
                  </a:txBody>
                  <a:tcPr marL="36576" marR="36576" marT="36576" marB="36576">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100" b="1" dirty="0">
                          <a:solidFill>
                            <a:srgbClr val="2D2D2D"/>
                          </a:solidFill>
                          <a:latin typeface="Calibri" pitchFamily="34" charset="0"/>
                          <a:ea typeface="Calibri" pitchFamily="34" charset="-122"/>
                          <a:cs typeface="Calibri" pitchFamily="34" charset="-120"/>
                        </a:rPr>
                        <a:t>Augmentace</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2D2D2D"/>
                          </a:solidFill>
                          <a:latin typeface="Consolas" pitchFamily="34" charset="0"/>
                          <a:ea typeface="Consolas" pitchFamily="34" charset="-122"/>
                          <a:cs typeface="Consolas" pitchFamily="34" charset="-120"/>
                        </a:rPr>
                        <a:t>rotace 90°, horizontal/vertical flip</a:t>
                      </a:r>
                      <a:endParaRPr lang="en-US" sz="1100" dirty="0">
                        <a:latin typeface="Consolas" charset="0"/>
                        <a:ea typeface="Consolas" charset="0"/>
                        <a:cs typeface="Consolas" charset="0"/>
                      </a:endParaRPr>
                    </a:p>
                  </a:txBody>
                  <a:tcPr marL="36576" marR="36576" marT="36576" marB="36576">
                    <a:lnL w="0" cap="flat" cmpd="sng" algn="ctr">
                      <a:noFill/>
                    </a:lnL>
                    <a:lnR w="0" cap="flat" cmpd="sng" algn="ctr">
                      <a:noFill/>
                    </a:lnR>
                    <a:lnT w="0" cap="flat" cmpd="sng" algn="ctr">
                      <a:noFill/>
                    </a:lnT>
                    <a:lnB w="0" cap="flat" cmpd="sng" algn="ctr">
                      <a:noFill/>
                    </a:lnB>
                  </a:tcPr>
                </a:tc>
              </a:tr>
            </a:tbl>
          </a:graphicData>
        </a:graphic>
      </p:graphicFrame>
      <p:sp>
        <p:nvSpPr>
          <p:cNvPr id="9" name="Text 6"/>
          <p:cNvSpPr/>
          <p:nvPr/>
        </p:nvSpPr>
        <p:spPr>
          <a:xfrm>
            <a:off x="457200" y="507492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Normalizace vstupů — proč per-patch pro DSM</a:t>
            </a:r>
            <a:endParaRPr lang="en-US" sz="1300" dirty="0"/>
          </a:p>
        </p:txBody>
      </p:sp>
      <p:sp>
        <p:nvSpPr>
          <p:cNvPr id="10" name="Text 7"/>
          <p:cNvSpPr/>
          <p:nvPr/>
        </p:nvSpPr>
        <p:spPr>
          <a:xfrm>
            <a:off x="457200" y="5440680"/>
            <a:ext cx="11247120" cy="77724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DSM má mezi PL a NL zásadně různé absolutní hodnoty (PL: 0–250 m, NL: −7 až +30 m). Per-patch normalizace (odečtení mediánu) odstraňuje absolutní výškovou referenci — model vidí jen lokální strukturu terénu, což je klíčové pro generalizaci napříč regiony.</a:t>
            </a:r>
            <a:endParaRPr lang="en-US" sz="1300" dirty="0"/>
          </a:p>
        </p:txBody>
      </p:sp>
      <p:sp>
        <p:nvSpPr>
          <p:cNvPr id="11" name="Text 8"/>
          <p:cNvSpPr/>
          <p:nvPr/>
        </p:nvSpPr>
        <p:spPr>
          <a:xfrm>
            <a:off x="640080" y="6263640"/>
            <a:ext cx="10972800" cy="320040"/>
          </a:xfrm>
          <a:prstGeom prst="rect">
            <a:avLst/>
          </a:prstGeom>
          <a:noFill/>
          <a:ln/>
        </p:spPr>
        <p:txBody>
          <a:bodyPr wrap="square" lIns="0" tIns="0" rIns="0" bIns="0" rtlCol="0" anchor="t"/>
          <a:lstStyle/>
          <a:p>
            <a:pPr indent="0" marL="0">
              <a:buNone/>
            </a:pPr>
            <a:r>
              <a:rPr lang="en-US" sz="1100" b="1" dirty="0">
                <a:solidFill>
                  <a:srgbClr val="2D2D2D"/>
                </a:solidFill>
                <a:latin typeface="Calibri" pitchFamily="34" charset="0"/>
                <a:ea typeface="Calibri" pitchFamily="34" charset="-122"/>
                <a:cs typeface="Calibri" pitchFamily="34" charset="-120"/>
              </a:rPr>
              <a:t>DSM:  </a:t>
            </a:r>
            <a:pPr indent="0" marL="0">
              <a:buNone/>
            </a:pPr>
            <a:r>
              <a:rPr lang="en-US" sz="1100" dirty="0">
                <a:solidFill>
                  <a:srgbClr val="2D2D2D"/>
                </a:solidFill>
                <a:latin typeface="Consolas" pitchFamily="34" charset="0"/>
                <a:ea typeface="Consolas" pitchFamily="34" charset="-122"/>
                <a:cs typeface="Consolas" pitchFamily="34" charset="-120"/>
              </a:rPr>
              <a:t>per-patch (medián)    </a:t>
            </a:r>
            <a:pPr indent="0" marL="0">
              <a:buNone/>
            </a:pPr>
            <a:r>
              <a:rPr lang="en-US" sz="1100" b="1" dirty="0">
                <a:solidFill>
                  <a:srgbClr val="2D2D2D"/>
                </a:solidFill>
                <a:latin typeface="Calibri" pitchFamily="34" charset="0"/>
                <a:ea typeface="Calibri" pitchFamily="34" charset="-122"/>
                <a:cs typeface="Calibri" pitchFamily="34" charset="-120"/>
              </a:rPr>
              <a:t>Ostatní:  </a:t>
            </a:r>
            <a:pPr indent="0" marL="0">
              <a:buNone/>
            </a:pPr>
            <a:r>
              <a:rPr lang="en-US" sz="1100" dirty="0">
                <a:solidFill>
                  <a:srgbClr val="2D2D2D"/>
                </a:solidFill>
                <a:latin typeface="Consolas" pitchFamily="34" charset="0"/>
                <a:ea typeface="Consolas" pitchFamily="34" charset="-122"/>
                <a:cs typeface="Consolas" pitchFamily="34" charset="-120"/>
              </a:rPr>
              <a:t>per-channel z-score (statistiky z train setu)</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Generování patchů — čísla</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77724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Konečný dataset je výsledkem řady designových voleb. Velikost patche 256 × 256 px na rozlišení 10 m pokrývá cca 2.56 km terénu, což je dostatečný kontext pro detekci hráze i s okolním terénem. Stratifikace do tří kategorií S/M/L odpovídá řádovým rozdílům velikosti povodí v Polsku i Nizozemsku.</a:t>
            </a:r>
            <a:endParaRPr lang="en-US" sz="1300" dirty="0"/>
          </a:p>
        </p:txBody>
      </p:sp>
      <p:sp>
        <p:nvSpPr>
          <p:cNvPr id="5" name="Text 3"/>
          <p:cNvSpPr/>
          <p:nvPr/>
        </p:nvSpPr>
        <p:spPr>
          <a:xfrm>
            <a:off x="457200" y="182880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Patch parametry</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72800" cy="914400"/>
        </p:xfrm>
        <a:graphic>
          <a:graphicData uri="http://schemas.openxmlformats.org/drawingml/2006/table">
            <a:tbl>
              <a:tblPr/>
              <a:tblGrid>
                <a:gridCol w="2743200"/>
                <a:gridCol w="8229600"/>
              </a:tblGrid>
              <a:tr h="246888">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Velikost</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000000"/>
                          </a:solidFill>
                          <a:latin typeface="Consolas" pitchFamily="34" charset="0"/>
                          <a:ea typeface="Consolas" pitchFamily="34" charset="-122"/>
                          <a:cs typeface="Consolas" pitchFamily="34" charset="-120"/>
                        </a:rPr>
                        <a:t>256 × 256 px</a:t>
                      </a:r>
                      <a:endParaRPr lang="en-US" sz="1100" dirty="0">
                        <a:latin typeface="Consolas" charset="0"/>
                        <a:ea typeface="Consolas" charset="0"/>
                        <a:cs typeface="Consolas" charset="0"/>
                      </a:endParaRPr>
                    </a:p>
                  </a:txBody>
                  <a:tcPr marL="36576" marR="36576" marT="36576" marB="36576">
                    <a:lnL w="0" cap="flat" cmpd="sng" algn="ctr">
                      <a:noFill/>
                    </a:lnL>
                    <a:lnR w="0" cap="flat" cmpd="sng" algn="ctr">
                      <a:noFill/>
                    </a:lnR>
                    <a:lnT w="0" cap="flat" cmpd="sng" algn="ctr">
                      <a:noFill/>
                    </a:lnT>
                    <a:lnB w="0" cap="flat" cmpd="sng" algn="ctr">
                      <a:noFill/>
                    </a:lnB>
                  </a:tcPr>
                </a:tc>
              </a:tr>
              <a:tr h="246888">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Rozlišení</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000000"/>
                          </a:solidFill>
                          <a:latin typeface="Consolas" pitchFamily="34" charset="0"/>
                          <a:ea typeface="Consolas" pitchFamily="34" charset="-122"/>
                          <a:cs typeface="Consolas" pitchFamily="34" charset="-120"/>
                        </a:rPr>
                        <a:t>10 m/px (DSM resampled bilinear z 30 m)</a:t>
                      </a:r>
                      <a:endParaRPr lang="en-US" sz="1100" dirty="0">
                        <a:latin typeface="Consolas" charset="0"/>
                        <a:ea typeface="Consolas" charset="0"/>
                        <a:cs typeface="Consolas" charset="0"/>
                      </a:endParaRPr>
                    </a:p>
                  </a:txBody>
                  <a:tcPr marL="36576" marR="36576" marT="36576" marB="36576">
                    <a:lnL w="0" cap="flat" cmpd="sng" algn="ctr">
                      <a:noFill/>
                    </a:lnL>
                    <a:lnR w="0" cap="flat" cmpd="sng" algn="ctr">
                      <a:noFill/>
                    </a:lnR>
                    <a:lnT w="0" cap="flat" cmpd="sng" algn="ctr">
                      <a:noFill/>
                    </a:lnT>
                    <a:lnB w="0" cap="flat" cmpd="sng" algn="ctr">
                      <a:noFill/>
                    </a:lnB>
                  </a:tcPr>
                </a:tc>
              </a:tr>
              <a:tr h="246888">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Pokrytí</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000000"/>
                          </a:solidFill>
                          <a:latin typeface="Consolas" pitchFamily="34" charset="0"/>
                          <a:ea typeface="Consolas" pitchFamily="34" charset="-122"/>
                          <a:cs typeface="Consolas" pitchFamily="34" charset="-120"/>
                        </a:rPr>
                        <a:t>2.56 × 2.56 km</a:t>
                      </a:r>
                      <a:endParaRPr lang="en-US" sz="1100" dirty="0">
                        <a:latin typeface="Consolas" charset="0"/>
                        <a:ea typeface="Consolas" charset="0"/>
                        <a:cs typeface="Consolas" charset="0"/>
                      </a:endParaRPr>
                    </a:p>
                  </a:txBody>
                  <a:tcPr marL="36576" marR="36576" marT="36576" marB="36576">
                    <a:lnL w="0" cap="flat" cmpd="sng" algn="ctr">
                      <a:noFill/>
                    </a:lnL>
                    <a:lnR w="0" cap="flat" cmpd="sng" algn="ctr">
                      <a:noFill/>
                    </a:lnR>
                    <a:lnT w="0" cap="flat" cmpd="sng" algn="ctr">
                      <a:noFill/>
                    </a:lnT>
                    <a:lnB w="0" cap="flat" cmpd="sng" algn="ctr">
                      <a:noFill/>
                    </a:lnB>
                  </a:tcPr>
                </a:tc>
              </a:tr>
              <a:tr h="246888">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Vstupní kanály</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000000"/>
                          </a:solidFill>
                          <a:latin typeface="Consolas" pitchFamily="34" charset="0"/>
                          <a:ea typeface="Consolas" pitchFamily="34" charset="-122"/>
                          <a:cs typeface="Consolas" pitchFamily="34" charset="-120"/>
                        </a:rPr>
                        <a:t>6 (DSM, TPI×3, Canopy, Canopy SD)</a:t>
                      </a:r>
                      <a:endParaRPr lang="en-US" sz="1100" dirty="0">
                        <a:latin typeface="Consolas" charset="0"/>
                        <a:ea typeface="Consolas" charset="0"/>
                        <a:cs typeface="Consolas" charset="0"/>
                      </a:endParaRPr>
                    </a:p>
                  </a:txBody>
                  <a:tcPr marL="36576" marR="36576" marT="36576" marB="36576">
                    <a:lnL w="0" cap="flat" cmpd="sng" algn="ctr">
                      <a:noFill/>
                    </a:lnL>
                    <a:lnR w="0" cap="flat" cmpd="sng" algn="ctr">
                      <a:noFill/>
                    </a:lnR>
                    <a:lnT w="0" cap="flat" cmpd="sng" algn="ctr">
                      <a:noFill/>
                    </a:lnT>
                    <a:lnB w="0" cap="flat" cmpd="sng" algn="ctr">
                      <a:noFill/>
                    </a:lnB>
                  </a:tcPr>
                </a:tc>
              </a:tr>
              <a:tr h="246888">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Label</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000000"/>
                          </a:solidFill>
                          <a:latin typeface="Consolas" pitchFamily="34" charset="0"/>
                          <a:ea typeface="Consolas" pitchFamily="34" charset="-122"/>
                          <a:cs typeface="Consolas" pitchFamily="34" charset="-120"/>
                        </a:rPr>
                        <a:t>BDOT/TOP10NL buffer 15 m</a:t>
                      </a:r>
                      <a:endParaRPr lang="en-US" sz="1100" dirty="0">
                        <a:latin typeface="Consolas" charset="0"/>
                        <a:ea typeface="Consolas" charset="0"/>
                        <a:cs typeface="Consolas" charset="0"/>
                      </a:endParaRPr>
                    </a:p>
                  </a:txBody>
                  <a:tcPr marL="36576" marR="36576" marT="36576" marB="36576">
                    <a:lnL w="0" cap="flat" cmpd="sng" algn="ctr">
                      <a:noFill/>
                    </a:lnL>
                    <a:lnR w="0" cap="flat" cmpd="sng" algn="ctr">
                      <a:noFill/>
                    </a:lnR>
                    <a:lnT w="0" cap="flat" cmpd="sng" algn="ctr">
                      <a:noFill/>
                    </a:lnT>
                    <a:lnB w="0" cap="flat" cmpd="sng" algn="ctr">
                      <a:noFill/>
                    </a:lnB>
                  </a:tcPr>
                </a:tc>
              </a:tr>
            </a:tbl>
          </a:graphicData>
        </a:graphic>
      </p:graphicFrame>
      <p:sp>
        <p:nvSpPr>
          <p:cNvPr id="7" name="Text 4"/>
          <p:cNvSpPr/>
          <p:nvPr/>
        </p:nvSpPr>
        <p:spPr>
          <a:xfrm>
            <a:off x="457200" y="365760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Distribuce kategorií S / M / L (uparea v km²)</a:t>
            </a:r>
            <a:endParaRPr lang="en-US" sz="13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40080" y="4023360"/>
          <a:ext cx="10972800" cy="914400"/>
        </p:xfrm>
        <a:graphic>
          <a:graphicData uri="http://schemas.openxmlformats.org/drawingml/2006/table">
            <a:tbl>
              <a:tblPr/>
              <a:tblGrid>
                <a:gridCol w="914400"/>
                <a:gridCol w="3200400"/>
                <a:gridCol w="6858000"/>
              </a:tblGrid>
              <a:tr h="292608">
                <a:tc>
                  <a:txBody>
                    <a:bodyPr/>
                    <a:lstStyle/>
                    <a:p>
                      <a:pPr indent="0" marL="0">
                        <a:buNone/>
                      </a:pPr>
                      <a:r>
                        <a:rPr lang="en-US" sz="1100" b="1" dirty="0">
                          <a:solidFill>
                            <a:srgbClr val="1E40AF"/>
                          </a:solidFill>
                          <a:latin typeface="Calibri" pitchFamily="34" charset="0"/>
                          <a:ea typeface="Calibri" pitchFamily="34" charset="-122"/>
                          <a:cs typeface="Calibri" pitchFamily="34" charset="-120"/>
                        </a:rPr>
                        <a:t>S</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000000"/>
                          </a:solidFill>
                          <a:latin typeface="Consolas" pitchFamily="34" charset="0"/>
                          <a:ea typeface="Consolas" pitchFamily="34" charset="-122"/>
                          <a:cs typeface="Consolas" pitchFamily="34" charset="-120"/>
                        </a:rPr>
                        <a:t>10 – 1 000 km²</a:t>
                      </a:r>
                      <a:endParaRPr lang="en-US" sz="1100" dirty="0">
                        <a:latin typeface="Consolas" charset="0"/>
                        <a:ea typeface="Consolas" charset="0"/>
                        <a:cs typeface="Consolas"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malé toky, lokální hráze</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r>
              <a:tr h="292608">
                <a:tc>
                  <a:txBody>
                    <a:bodyPr/>
                    <a:lstStyle/>
                    <a:p>
                      <a:pPr indent="0" marL="0">
                        <a:buNone/>
                      </a:pPr>
                      <a:r>
                        <a:rPr lang="en-US" sz="1100" b="1" dirty="0">
                          <a:solidFill>
                            <a:srgbClr val="1E40AF"/>
                          </a:solidFill>
                          <a:latin typeface="Calibri" pitchFamily="34" charset="0"/>
                          <a:ea typeface="Calibri" pitchFamily="34" charset="-122"/>
                          <a:cs typeface="Calibri" pitchFamily="34" charset="-120"/>
                        </a:rPr>
                        <a:t>M</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000000"/>
                          </a:solidFill>
                          <a:latin typeface="Consolas" pitchFamily="34" charset="0"/>
                          <a:ea typeface="Consolas" pitchFamily="34" charset="-122"/>
                          <a:cs typeface="Consolas" pitchFamily="34" charset="-120"/>
                        </a:rPr>
                        <a:t>1 000 – 10 000 km²</a:t>
                      </a:r>
                      <a:endParaRPr lang="en-US" sz="1100" dirty="0">
                        <a:latin typeface="Consolas" charset="0"/>
                        <a:ea typeface="Consolas" charset="0"/>
                        <a:cs typeface="Consolas"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středně velké řeky</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r>
              <a:tr h="292608">
                <a:tc>
                  <a:txBody>
                    <a:bodyPr/>
                    <a:lstStyle/>
                    <a:p>
                      <a:pPr indent="0" marL="0">
                        <a:buNone/>
                      </a:pPr>
                      <a:r>
                        <a:rPr lang="en-US" sz="1100" b="1" dirty="0">
                          <a:solidFill>
                            <a:srgbClr val="1E40AF"/>
                          </a:solidFill>
                          <a:latin typeface="Calibri" pitchFamily="34" charset="0"/>
                          <a:ea typeface="Calibri" pitchFamily="34" charset="-122"/>
                          <a:cs typeface="Calibri" pitchFamily="34" charset="-120"/>
                        </a:rPr>
                        <a:t>L</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000000"/>
                          </a:solidFill>
                          <a:latin typeface="Consolas" pitchFamily="34" charset="0"/>
                          <a:ea typeface="Consolas" pitchFamily="34" charset="-122"/>
                          <a:cs typeface="Consolas" pitchFamily="34" charset="-120"/>
                        </a:rPr>
                        <a:t>&gt; 10 000 km²</a:t>
                      </a:r>
                      <a:endParaRPr lang="en-US" sz="1100" dirty="0">
                        <a:latin typeface="Consolas" charset="0"/>
                        <a:ea typeface="Consolas" charset="0"/>
                        <a:cs typeface="Consolas"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velké toky (Visla, Odra, Rijn, Maas)</a:t>
                      </a:r>
                      <a:endParaRPr lang="en-US" sz="11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r>
            </a:tbl>
          </a:graphicData>
        </a:graphic>
      </p:graphicFrame>
      <p:sp>
        <p:nvSpPr>
          <p:cNvPr id="9" name="Text 5"/>
          <p:cNvSpPr/>
          <p:nvPr/>
        </p:nvSpPr>
        <p:spPr>
          <a:xfrm>
            <a:off x="457200" y="516636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Společný train dataset PL + NL</a:t>
            </a:r>
            <a:endParaRPr lang="en-US" sz="1300" dirty="0"/>
          </a:p>
        </p:txBody>
      </p:sp>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640080" y="5532120"/>
          <a:ext cx="10972800" cy="914400"/>
        </p:xfrm>
        <a:graphic>
          <a:graphicData uri="http://schemas.openxmlformats.org/drawingml/2006/table">
            <a:tbl>
              <a:tblPr/>
              <a:tblGrid>
                <a:gridCol w="1371600"/>
                <a:gridCol w="9601200"/>
              </a:tblGrid>
              <a:tr h="256032">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Train</a:t>
                      </a:r>
                      <a:endParaRPr lang="en-US" sz="12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~62 000 patchů (~70 %)</a:t>
                      </a:r>
                      <a:endParaRPr lang="en-US" sz="12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Val</a:t>
                      </a:r>
                      <a:endParaRPr lang="en-US" sz="12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~14 200 patchů (~15 %)</a:t>
                      </a:r>
                      <a:endParaRPr lang="en-US" sz="12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~12 400 patchů (~15 %)</a:t>
                      </a:r>
                      <a:endParaRPr lang="en-US" sz="1200" dirty="0">
                        <a:latin typeface="Calibri" charset="0"/>
                        <a:ea typeface="Calibri" charset="0"/>
                        <a:cs typeface="Calibri" charset="0"/>
                      </a:endParaRPr>
                    </a:p>
                  </a:txBody>
                  <a:tcPr marL="36576" marR="36576" marT="36576" marB="36576">
                    <a:lnL w="0" cap="flat" cmpd="sng" algn="ctr">
                      <a:noFill/>
                    </a:lnL>
                    <a:lnR w="0" cap="flat" cmpd="sng" algn="ctr">
                      <a:noFill/>
                    </a:lnR>
                    <a:lnT w="0" cap="flat" cmpd="sng" algn="ctr">
                      <a:noFill/>
                    </a:lnT>
                    <a:lnB w="0" cap="flat" cmpd="sng" algn="ctr">
                      <a:noFill/>
                    </a:lnB>
                  </a:tcPr>
                </a:tc>
              </a:tr>
            </a:tbl>
          </a:graphicData>
        </a:graphic>
      </p:graphicFrame>
      <p:sp>
        <p:nvSpPr>
          <p:cNvPr id="11" name="Text 6"/>
          <p:cNvSpPr/>
          <p:nvPr/>
        </p:nvSpPr>
        <p:spPr>
          <a:xfrm>
            <a:off x="457200" y="6537960"/>
            <a:ext cx="11247120" cy="256032"/>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Konkrétní rozložení patchů per kategorie a region: výstup po skončení tréninkového běhu</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Train / val / test split — prevence data leakage</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137160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Strategie rozdělení datasetu je netriviální a má přímý dopad na validitu výsledných metrik. Naivní náhodný split podle patchů by způsobil systematické nadhodnocení výkonu modelu, protože patche ze stejné hráze jsou si vizuálně velmi podobné (overlap mezi sousedními patchy je až 80 %). Rozhodl jsem se pro split na úrovni původních hrází (source_idx), což garantuje, že všechny patche jedné hráze končí v jednom splitu. Region prefix (PL_5 vs. NL_5) prevence kolize indexů mezi datasety.</a:t>
            </a:r>
            <a:endParaRPr lang="en-US" sz="1300" dirty="0"/>
          </a:p>
        </p:txBody>
      </p:sp>
      <p:sp>
        <p:nvSpPr>
          <p:cNvPr id="5" name="Text 3"/>
          <p:cNvSpPr/>
          <p:nvPr/>
        </p:nvSpPr>
        <p:spPr>
          <a:xfrm>
            <a:off x="457200" y="242316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Strategie split</a:t>
            </a:r>
            <a:endParaRPr lang="en-US" sz="1300" dirty="0"/>
          </a:p>
        </p:txBody>
      </p:sp>
      <p:sp>
        <p:nvSpPr>
          <p:cNvPr id="6" name="Text 4"/>
          <p:cNvSpPr/>
          <p:nvPr/>
        </p:nvSpPr>
        <p:spPr>
          <a:xfrm>
            <a:off x="640080" y="2743200"/>
            <a:ext cx="10972800" cy="14630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Pro každý patch je známá původní BDOT / TOP10NL hráz (source_idx)</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Patche stejné hráze → vždy ve stejném splitu</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Region prefix pro globální unikátnost: PL_5 ≠ NL_5</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Random shuffle se SEED = 42, plně reprodukovatelné</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Split poměr: 70 % train / 15 % val / 15 % test (na úrovni unikátních source_idx)</a:t>
            </a:r>
            <a:endParaRPr lang="en-US" sz="1200" dirty="0"/>
          </a:p>
        </p:txBody>
      </p:sp>
      <p:sp>
        <p:nvSpPr>
          <p:cNvPr id="7" name="Text 5"/>
          <p:cNvSpPr/>
          <p:nvPr/>
        </p:nvSpPr>
        <p:spPr>
          <a:xfrm>
            <a:off x="457200" y="429768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Negativní patche dědí source_idx od rodičovského pozitivního</a:t>
            </a:r>
            <a:endParaRPr lang="en-US" sz="1300" dirty="0"/>
          </a:p>
        </p:txBody>
      </p:sp>
      <p:sp>
        <p:nvSpPr>
          <p:cNvPr id="8" name="Text 6"/>
          <p:cNvSpPr/>
          <p:nvPr/>
        </p:nvSpPr>
        <p:spPr>
          <a:xfrm>
            <a:off x="640080" y="4617720"/>
            <a:ext cx="10972800" cy="10972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Negativní patch je generován jako náhodný bod ve stejné kategorii uparea, mimo exclusion buffer 100 m</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Každý negativ dědí source_idx svého pozitivního "sourozence"</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Garantuje, že negativy nikdy neskončí v jiném splitu než pozitivy stejné hráze</a:t>
            </a:r>
            <a:endParaRPr lang="en-US" sz="1200" dirty="0"/>
          </a:p>
        </p:txBody>
      </p:sp>
      <p:sp>
        <p:nvSpPr>
          <p:cNvPr id="9" name="Text 7"/>
          <p:cNvSpPr/>
          <p:nvPr/>
        </p:nvSpPr>
        <p:spPr>
          <a:xfrm>
            <a:off x="457200" y="576072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Co tato volba znamená pro interpretaci výsledků</a:t>
            </a:r>
            <a:endParaRPr lang="en-US" sz="1300" dirty="0"/>
          </a:p>
        </p:txBody>
      </p:sp>
      <p:sp>
        <p:nvSpPr>
          <p:cNvPr id="10" name="Text 8"/>
          <p:cNvSpPr/>
          <p:nvPr/>
        </p:nvSpPr>
        <p:spPr>
          <a:xfrm>
            <a:off x="640080" y="6080760"/>
            <a:ext cx="10972800" cy="5486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Validační i testovací metriky reálně měří generalizaci na neviděné hráze</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Není to ablation pro generalizaci napříč regiony — to je separátní experiment (slide 13)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Stratifikace S / M / L — designové rozhodnutí pro evaluaci</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150876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Stratifikace povodí do tří velikostních kategorií není kosmetické rozhodnutí — bez ní by nebylo možné cíleně vyhodnotit, jestli a jak model funguje pro různé typy hrází. Hypotéza vychází z předpokladu, že větší řeky mají robustnější protipovodňové bariéry, které jsou snadněji detekovatelné v hrubém 30 m DSM. Pokud se hypotéza potvrdí, ukáže to limity 30 m globálního DEM pro malé hráze. Pokud se nepotvrdí, je to také validní výsledek, který otevírá další otázky (může jít o problém s daty, modelem, nebo hypotézou samotnou).</a:t>
            </a:r>
            <a:endParaRPr lang="en-US" sz="1300" dirty="0"/>
          </a:p>
        </p:txBody>
      </p:sp>
      <p:sp>
        <p:nvSpPr>
          <p:cNvPr id="5" name="Text 3"/>
          <p:cNvSpPr/>
          <p:nvPr/>
        </p:nvSpPr>
        <p:spPr>
          <a:xfrm>
            <a:off x="457200" y="260604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Hypotéza</a:t>
            </a:r>
            <a:endParaRPr lang="en-US" sz="1300" dirty="0"/>
          </a:p>
        </p:txBody>
      </p:sp>
      <p:sp>
        <p:nvSpPr>
          <p:cNvPr id="6" name="Text 4"/>
          <p:cNvSpPr/>
          <p:nvPr/>
        </p:nvSpPr>
        <p:spPr>
          <a:xfrm>
            <a:off x="640080" y="2926080"/>
            <a:ext cx="10972800" cy="320040"/>
          </a:xfrm>
          <a:prstGeom prst="rect">
            <a:avLst/>
          </a:prstGeom>
          <a:noFill/>
          <a:ln/>
        </p:spPr>
        <p:txBody>
          <a:bodyPr wrap="square" lIns="0" tIns="0" rIns="0" bIns="0" rtlCol="0" anchor="ctr"/>
          <a:lstStyle/>
          <a:p>
            <a:pPr indent="0" marL="0">
              <a:buNone/>
            </a:pPr>
            <a:r>
              <a:rPr lang="en-US" sz="1400" b="1" dirty="0">
                <a:solidFill>
                  <a:srgbClr val="1E40AF"/>
                </a:solidFill>
                <a:latin typeface="Calibri" pitchFamily="34" charset="0"/>
                <a:ea typeface="Calibri" pitchFamily="34" charset="-122"/>
                <a:cs typeface="Calibri" pitchFamily="34" charset="-120"/>
              </a:rPr>
              <a:t>metrika(L) &gt; metrika(M) &gt; metrika(S)</a:t>
            </a:r>
            <a:endParaRPr lang="en-US" sz="1400" dirty="0"/>
          </a:p>
        </p:txBody>
      </p:sp>
      <p:sp>
        <p:nvSpPr>
          <p:cNvPr id="7" name="Text 5"/>
          <p:cNvSpPr/>
          <p:nvPr/>
        </p:nvSpPr>
        <p:spPr>
          <a:xfrm>
            <a:off x="640080" y="3291840"/>
            <a:ext cx="10972800"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Větší řeky → robustnější / větší hráze → lepší detekce v 30 m DSM</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Menší řeky → menší / heterogennější hráze → obtížnější detekce</a:t>
            </a:r>
            <a:endParaRPr lang="en-US" sz="1200" dirty="0"/>
          </a:p>
        </p:txBody>
      </p:sp>
      <p:sp>
        <p:nvSpPr>
          <p:cNvPr id="8" name="Text 6"/>
          <p:cNvSpPr/>
          <p:nvPr/>
        </p:nvSpPr>
        <p:spPr>
          <a:xfrm>
            <a:off x="457200" y="402336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Implementace v pipeline</a:t>
            </a:r>
            <a:endParaRPr lang="en-US" sz="1300" dirty="0"/>
          </a:p>
        </p:txBody>
      </p:sp>
      <p:sp>
        <p:nvSpPr>
          <p:cNvPr id="9" name="Text 7"/>
          <p:cNvSpPr/>
          <p:nvPr/>
        </p:nvSpPr>
        <p:spPr>
          <a:xfrm>
            <a:off x="640080" y="4343400"/>
            <a:ext cx="10972800" cy="14630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Každý segment hráze: MERIT spatial join → uparea (km²)</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Strategie přiřazení: max uparea v okruhu 1 km (ne nejbližší reach) — soutoky s velkou řekou se přiřadí k velké řece</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Klasifikace S / M / L podle definovaných hranic uparea, hranice na řádových přechodech (10³, 10⁴)</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Per-patch metriky pak agreguji per kategorie v evaluaci (sekce 8 notebooku)</a:t>
            </a:r>
            <a:endParaRPr lang="en-US" sz="1200" dirty="0"/>
          </a:p>
        </p:txBody>
      </p:sp>
      <p:sp>
        <p:nvSpPr>
          <p:cNvPr id="10" name="Text 8"/>
          <p:cNvSpPr/>
          <p:nvPr/>
        </p:nvSpPr>
        <p:spPr>
          <a:xfrm>
            <a:off x="457200" y="589788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Co kategorie S / M / L pokryjí</a:t>
            </a:r>
            <a:endParaRPr lang="en-US" sz="1300" dirty="0"/>
          </a:p>
        </p:txBody>
      </p:sp>
      <p:sp>
        <p:nvSpPr>
          <p:cNvPr id="11" name="Text 9"/>
          <p:cNvSpPr/>
          <p:nvPr/>
        </p:nvSpPr>
        <p:spPr>
          <a:xfrm>
            <a:off x="640080" y="6217920"/>
            <a:ext cx="10972800" cy="5943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S: malé toky (do 1 000 km²) — typicky lokální nebo regionální systémy</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M / L: pokrývají velké evropské toky včetně Visly (~194 000 km²), Rijnu (~165 000 km²), Mass-Schelde estuaria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První tréninkový běh — dokončen</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146304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ResNet-UNet baseline doběhl všech 50 epoch a poskytl baseline metriky i vizualizace predikcí. Výsledky jsou v některých ohledech očekávané (hypotéza S / M / L se potvrdila), v jiných nečekané (NL výsledky lepší než PL). Nejzajímavější je ale chování tréninkových křivek, které vypadá jako overfitting, ale ve skutečnosti odhaluje subtilní rozcházení loss funkce a Dice metriky. Této analýze věnuji následujících šest slidů.</a:t>
            </a:r>
            <a:endParaRPr lang="en-US" sz="1300" dirty="0"/>
          </a:p>
        </p:txBody>
      </p:sp>
      <p:sp>
        <p:nvSpPr>
          <p:cNvPr id="5" name="Text 3"/>
          <p:cNvSpPr/>
          <p:nvPr/>
        </p:nvSpPr>
        <p:spPr>
          <a:xfrm>
            <a:off x="457200" y="256032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Konfigurace tréninku</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2926080"/>
          <a:ext cx="10972800" cy="914400"/>
        </p:xfrm>
        <a:graphic>
          <a:graphicData uri="http://schemas.openxmlformats.org/drawingml/2006/table">
            <a:tbl>
              <a:tblPr/>
              <a:tblGrid>
                <a:gridCol w="2743200"/>
                <a:gridCol w="8229600"/>
              </a:tblGrid>
              <a:tr h="256032">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Architektura</a:t>
                      </a:r>
                      <a:endParaRPr lang="en-US" sz="120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000000"/>
                          </a:solidFill>
                          <a:latin typeface="Consolas" pitchFamily="34" charset="0"/>
                          <a:ea typeface="Consolas" pitchFamily="34" charset="-122"/>
                          <a:cs typeface="Consolas" pitchFamily="34" charset="-120"/>
                        </a:rPr>
                        <a:t>ResNet-UNet (resnet34 backbone)</a:t>
                      </a:r>
                      <a:endParaRPr lang="en-US" sz="1200" dirty="0">
                        <a:latin typeface="Consolas" charset="0"/>
                        <a:ea typeface="Consolas" charset="0"/>
                        <a:cs typeface="Consolas" charset="0"/>
                      </a:endParaRPr>
                    </a:p>
                  </a:txBody>
                  <a:tcPr marL="45720" marR="45720" marT="45720" marB="45720">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Data</a:t>
                      </a:r>
                      <a:endParaRPr lang="en-US" sz="120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000000"/>
                          </a:solidFill>
                          <a:latin typeface="Consolas" pitchFamily="34" charset="0"/>
                          <a:ea typeface="Consolas" pitchFamily="34" charset="-122"/>
                          <a:cs typeface="Consolas" pitchFamily="34" charset="-120"/>
                        </a:rPr>
                        <a:t>62 008 train / 14 214 val / 13 588 test (PL + NL)</a:t>
                      </a:r>
                      <a:endParaRPr lang="en-US" sz="1200" dirty="0">
                        <a:latin typeface="Consolas" charset="0"/>
                        <a:ea typeface="Consolas" charset="0"/>
                        <a:cs typeface="Consolas" charset="0"/>
                      </a:endParaRPr>
                    </a:p>
                  </a:txBody>
                  <a:tcPr marL="45720" marR="45720" marT="45720" marB="45720">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Hardware</a:t>
                      </a:r>
                      <a:endParaRPr lang="en-US" sz="120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000000"/>
                          </a:solidFill>
                          <a:latin typeface="Consolas" pitchFamily="34" charset="0"/>
                          <a:ea typeface="Consolas" pitchFamily="34" charset="-122"/>
                          <a:cs typeface="Consolas" pitchFamily="34" charset="-120"/>
                        </a:rPr>
                        <a:t>NVIDIA RTX A4000 (16 GB)</a:t>
                      </a:r>
                      <a:endParaRPr lang="en-US" sz="1200" dirty="0">
                        <a:latin typeface="Consolas" charset="0"/>
                        <a:ea typeface="Consolas" charset="0"/>
                        <a:cs typeface="Consolas" charset="0"/>
                      </a:endParaRPr>
                    </a:p>
                  </a:txBody>
                  <a:tcPr marL="45720" marR="45720" marT="45720" marB="45720">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Doba 1 epochy</a:t>
                      </a:r>
                      <a:endParaRPr lang="en-US" sz="120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000000"/>
                          </a:solidFill>
                          <a:latin typeface="Consolas" pitchFamily="34" charset="0"/>
                          <a:ea typeface="Consolas" pitchFamily="34" charset="-122"/>
                          <a:cs typeface="Consolas" pitchFamily="34" charset="-120"/>
                        </a:rPr>
                        <a:t>~14 minut (12 train + 2 val)</a:t>
                      </a:r>
                      <a:endParaRPr lang="en-US" sz="1200" dirty="0">
                        <a:latin typeface="Consolas" charset="0"/>
                        <a:ea typeface="Consolas" charset="0"/>
                        <a:cs typeface="Consolas" charset="0"/>
                      </a:endParaRPr>
                    </a:p>
                  </a:txBody>
                  <a:tcPr marL="45720" marR="45720" marT="45720" marB="45720">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Celkový čas</a:t>
                      </a:r>
                      <a:endParaRPr lang="en-US" sz="120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000000"/>
                          </a:solidFill>
                          <a:latin typeface="Consolas" pitchFamily="34" charset="0"/>
                          <a:ea typeface="Consolas" pitchFamily="34" charset="-122"/>
                          <a:cs typeface="Consolas" pitchFamily="34" charset="-120"/>
                        </a:rPr>
                        <a:t>~13 hodin pro 50 epoch</a:t>
                      </a:r>
                      <a:endParaRPr lang="en-US" sz="1200" dirty="0">
                        <a:latin typeface="Consolas" charset="0"/>
                        <a:ea typeface="Consolas" charset="0"/>
                        <a:cs typeface="Consolas" charset="0"/>
                      </a:endParaRPr>
                    </a:p>
                  </a:txBody>
                  <a:tcPr marL="45720" marR="45720" marT="45720" marB="45720">
                    <a:lnL w="0" cap="flat" cmpd="sng" algn="ctr">
                      <a:noFill/>
                    </a:lnL>
                    <a:lnR w="0" cap="flat" cmpd="sng" algn="ctr">
                      <a:noFill/>
                    </a:lnR>
                    <a:lnT w="0" cap="flat" cmpd="sng" algn="ctr">
                      <a:noFill/>
                    </a:lnT>
                    <a:lnB w="0" cap="flat" cmpd="sng" algn="ctr">
                      <a:noFill/>
                    </a:lnB>
                  </a:tcPr>
                </a:tc>
              </a:tr>
            </a:tbl>
          </a:graphicData>
        </a:graphic>
      </p:graphicFrame>
      <p:sp>
        <p:nvSpPr>
          <p:cNvPr id="7" name="Text 4"/>
          <p:cNvSpPr/>
          <p:nvPr/>
        </p:nvSpPr>
        <p:spPr>
          <a:xfrm>
            <a:off x="457200" y="475488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Co tento běh dal</a:t>
            </a:r>
            <a:endParaRPr lang="en-US" sz="1300" dirty="0"/>
          </a:p>
        </p:txBody>
      </p:sp>
      <p:sp>
        <p:nvSpPr>
          <p:cNvPr id="8" name="Text 5"/>
          <p:cNvSpPr/>
          <p:nvPr/>
        </p:nvSpPr>
        <p:spPr>
          <a:xfrm>
            <a:off x="640080" y="5074920"/>
            <a:ext cx="10972800" cy="15544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Baseline metriky pro ResNet-UNet (overall test Dice 0.349, IoU 0.257, clDice 0.551)</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Hypotéza S / M / L potvrzena: Dice L=0.43 &gt; M=0.37 &gt; S=0.36</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Per-region breakdown: NL Dice 0.45 vs. PL Dice 0.37 — opačně, než jsme čekali</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Vizualizace predikcí best / median / worst per kategorie</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Identifikace problému s výběrem checkpointu (best podle val_loss vs. val_Dice)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Tréninkové křivky — paradoxní pozorování</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146304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Dokončený tréninkový běh ukázal nečekanou kombinaci signálů, kterou stojí za to rozebrat detailně. Na první pohled křivky vypadají jako klasický overfitting — train loss klesá monotónně, ale val loss se po několika epochách začne zvedat. Současně se ale val Dice kontinuálně zlepšuje po celých 50 epoch. Tato kombinace není náhoda a má konkrétní mechanistické vysvětlení, které jsem si chtěl ujasnit, než budu interpretovat výsledky.</a:t>
            </a:r>
            <a:endParaRPr lang="en-US" sz="1300" dirty="0"/>
          </a:p>
        </p:txBody>
      </p:sp>
      <p:sp>
        <p:nvSpPr>
          <p:cNvPr id="5" name="Text 3"/>
          <p:cNvSpPr/>
          <p:nvPr/>
        </p:nvSpPr>
        <p:spPr>
          <a:xfrm>
            <a:off x="457200" y="260604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Pozorovaná data — 50 epoch ResNet-UNet</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2971800"/>
          <a:ext cx="10972800" cy="914400"/>
        </p:xfrm>
        <a:graphic>
          <a:graphicData uri="http://schemas.openxmlformats.org/drawingml/2006/table">
            <a:tbl>
              <a:tblPr/>
              <a:tblGrid>
                <a:gridCol w="2286000"/>
                <a:gridCol w="3200400"/>
                <a:gridCol w="5486400"/>
              </a:tblGrid>
              <a:tr h="29260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Train loss</a:t>
                      </a:r>
                      <a:endParaRPr lang="en-US" sz="120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1E40AF"/>
                          </a:solidFill>
                          <a:latin typeface="Consolas" pitchFamily="34" charset="0"/>
                          <a:ea typeface="Consolas" pitchFamily="34" charset="-122"/>
                          <a:cs typeface="Consolas" pitchFamily="34" charset="-120"/>
                        </a:rPr>
                        <a:t>1.33 → 0.62</a:t>
                      </a:r>
                      <a:endParaRPr lang="en-US" sz="1200" dirty="0">
                        <a:latin typeface="Consolas" charset="0"/>
                        <a:ea typeface="Consolas" charset="0"/>
                        <a:cs typeface="Consolas" charset="0"/>
                      </a:endParaRPr>
                    </a:p>
                  </a:txBody>
                  <a:tcPr marL="45720" marR="4572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6B7280"/>
                          </a:solidFill>
                          <a:latin typeface="Calibri" pitchFamily="34" charset="0"/>
                          <a:ea typeface="Calibri" pitchFamily="34" charset="-122"/>
                          <a:cs typeface="Calibri" pitchFamily="34" charset="-120"/>
                        </a:rPr>
                        <a:t>klesá monotónně, jak bychom čekali</a:t>
                      </a:r>
                      <a:endParaRPr lang="en-US" sz="120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0" cap="flat" cmpd="sng" algn="ctr">
                      <a:noFill/>
                    </a:lnB>
                  </a:tcPr>
                </a:tc>
              </a:tr>
              <a:tr h="29260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Val loss</a:t>
                      </a:r>
                      <a:endParaRPr lang="en-US" sz="120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1E40AF"/>
                          </a:solidFill>
                          <a:latin typeface="Consolas" pitchFamily="34" charset="0"/>
                          <a:ea typeface="Consolas" pitchFamily="34" charset="-122"/>
                          <a:cs typeface="Consolas" pitchFamily="34" charset="-120"/>
                        </a:rPr>
                        <a:t>1.26 → 1.44</a:t>
                      </a:r>
                      <a:endParaRPr lang="en-US" sz="1200" dirty="0">
                        <a:latin typeface="Consolas" charset="0"/>
                        <a:ea typeface="Consolas" charset="0"/>
                        <a:cs typeface="Consolas" charset="0"/>
                      </a:endParaRPr>
                    </a:p>
                  </a:txBody>
                  <a:tcPr marL="45720" marR="4572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6B7280"/>
                          </a:solidFill>
                          <a:latin typeface="Calibri" pitchFamily="34" charset="0"/>
                          <a:ea typeface="Calibri" pitchFamily="34" charset="-122"/>
                          <a:cs typeface="Calibri" pitchFamily="34" charset="-120"/>
                        </a:rPr>
                        <a:t>od epochy ~6 ROSTE (gap se rozevírá)</a:t>
                      </a:r>
                      <a:endParaRPr lang="en-US" sz="120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0" cap="flat" cmpd="sng" algn="ctr">
                      <a:noFill/>
                    </a:lnB>
                  </a:tcPr>
                </a:tc>
              </a:tr>
              <a:tr h="29260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Val Dice</a:t>
                      </a:r>
                      <a:endParaRPr lang="en-US" sz="120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1E40AF"/>
                          </a:solidFill>
                          <a:latin typeface="Consolas" pitchFamily="34" charset="0"/>
                          <a:ea typeface="Consolas" pitchFamily="34" charset="-122"/>
                          <a:cs typeface="Consolas" pitchFamily="34" charset="-120"/>
                        </a:rPr>
                        <a:t>0.27 → 0.45</a:t>
                      </a:r>
                      <a:endParaRPr lang="en-US" sz="1200" dirty="0">
                        <a:latin typeface="Consolas" charset="0"/>
                        <a:ea typeface="Consolas" charset="0"/>
                        <a:cs typeface="Consolas" charset="0"/>
                      </a:endParaRPr>
                    </a:p>
                  </a:txBody>
                  <a:tcPr marL="45720" marR="4572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6B7280"/>
                          </a:solidFill>
                          <a:latin typeface="Calibri" pitchFamily="34" charset="0"/>
                          <a:ea typeface="Calibri" pitchFamily="34" charset="-122"/>
                          <a:cs typeface="Calibri" pitchFamily="34" charset="-120"/>
                        </a:rPr>
                        <a:t>přesto STOUPÁ celou dobu, monotónně</a:t>
                      </a:r>
                      <a:endParaRPr lang="en-US" sz="120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0" cap="flat" cmpd="sng" algn="ctr">
                      <a:noFill/>
                    </a:lnB>
                  </a:tcPr>
                </a:tc>
              </a:tr>
              <a:tr h="29260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Best epoch</a:t>
                      </a:r>
                      <a:endParaRPr lang="en-US" sz="120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1E40AF"/>
                          </a:solidFill>
                          <a:latin typeface="Consolas" pitchFamily="34" charset="0"/>
                          <a:ea typeface="Consolas" pitchFamily="34" charset="-122"/>
                          <a:cs typeface="Consolas" pitchFamily="34" charset="-120"/>
                        </a:rPr>
                        <a:t>9 (val_loss)</a:t>
                      </a:r>
                      <a:endParaRPr lang="en-US" sz="1200" dirty="0">
                        <a:latin typeface="Consolas" charset="0"/>
                        <a:ea typeface="Consolas" charset="0"/>
                        <a:cs typeface="Consolas" charset="0"/>
                      </a:endParaRPr>
                    </a:p>
                  </a:txBody>
                  <a:tcPr marL="45720" marR="4572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6B7280"/>
                          </a:solidFill>
                          <a:latin typeface="Calibri" pitchFamily="34" charset="0"/>
                          <a:ea typeface="Calibri" pitchFamily="34" charset="-122"/>
                          <a:cs typeface="Calibri" pitchFamily="34" charset="-120"/>
                        </a:rPr>
                        <a:t>ale val_Dice je nejvyšší v epoše 48</a:t>
                      </a:r>
                      <a:endParaRPr lang="en-US" sz="1200" dirty="0">
                        <a:latin typeface="Calibri" charset="0"/>
                        <a:ea typeface="Calibri" charset="0"/>
                        <a:cs typeface="Calibri" charset="0"/>
                      </a:endParaRPr>
                    </a:p>
                  </a:txBody>
                  <a:tcPr marL="45720" marR="45720" marT="45720" marB="45720">
                    <a:lnL w="0" cap="flat" cmpd="sng" algn="ctr">
                      <a:noFill/>
                    </a:lnL>
                    <a:lnR w="0" cap="flat" cmpd="sng" algn="ctr">
                      <a:noFill/>
                    </a:lnR>
                    <a:lnT w="0" cap="flat" cmpd="sng" algn="ctr">
                      <a:noFill/>
                    </a:lnT>
                    <a:lnB w="0" cap="flat" cmpd="sng" algn="ctr">
                      <a:noFill/>
                    </a:lnB>
                  </a:tcPr>
                </a:tc>
              </a:tr>
            </a:tbl>
          </a:graphicData>
        </a:graphic>
      </p:graphicFrame>
      <p:sp>
        <p:nvSpPr>
          <p:cNvPr id="7" name="Shape 4"/>
          <p:cNvSpPr/>
          <p:nvPr/>
        </p:nvSpPr>
        <p:spPr>
          <a:xfrm>
            <a:off x="1371600" y="4846320"/>
            <a:ext cx="9418320" cy="1463040"/>
          </a:xfrm>
          <a:prstGeom prst="rect">
            <a:avLst/>
          </a:prstGeom>
          <a:solidFill>
            <a:srgbClr val="FFF7ED"/>
          </a:solidFill>
          <a:ln w="31750">
            <a:solidFill>
              <a:srgbClr val="EA580C"/>
            </a:solidFill>
            <a:prstDash val="solid"/>
          </a:ln>
        </p:spPr>
      </p:sp>
      <p:sp>
        <p:nvSpPr>
          <p:cNvPr id="8" name="Text 5"/>
          <p:cNvSpPr/>
          <p:nvPr/>
        </p:nvSpPr>
        <p:spPr>
          <a:xfrm>
            <a:off x="1371600" y="4937760"/>
            <a:ext cx="9418320" cy="640080"/>
          </a:xfrm>
          <a:prstGeom prst="rect">
            <a:avLst/>
          </a:prstGeom>
          <a:noFill/>
          <a:ln/>
        </p:spPr>
        <p:txBody>
          <a:bodyPr wrap="square" lIns="0" tIns="0" rIns="0" bIns="0" rtlCol="0" anchor="ctr"/>
          <a:lstStyle/>
          <a:p>
            <a:pPr algn="ctr" indent="0" marL="0">
              <a:buNone/>
            </a:pPr>
            <a:r>
              <a:rPr lang="en-US" sz="2800" b="1" dirty="0">
                <a:solidFill>
                  <a:srgbClr val="EA580C"/>
                </a:solidFill>
                <a:latin typeface="Calibri" pitchFamily="34" charset="0"/>
                <a:ea typeface="Calibri" pitchFamily="34" charset="-122"/>
                <a:cs typeface="Calibri" pitchFamily="34" charset="-120"/>
              </a:rPr>
              <a:t>&gt;&gt;&gt; PŘESKOČIT DO NOTEBOOKU !! &lt;&lt;&lt;</a:t>
            </a:r>
            <a:endParaRPr lang="en-US" sz="2800" dirty="0"/>
          </a:p>
        </p:txBody>
      </p:sp>
      <p:sp>
        <p:nvSpPr>
          <p:cNvPr id="9" name="Text 6"/>
          <p:cNvSpPr/>
          <p:nvPr/>
        </p:nvSpPr>
        <p:spPr>
          <a:xfrm>
            <a:off x="1371600" y="5623560"/>
            <a:ext cx="9418320" cy="457200"/>
          </a:xfrm>
          <a:prstGeom prst="rect">
            <a:avLst/>
          </a:prstGeom>
          <a:noFill/>
          <a:ln/>
        </p:spPr>
        <p:txBody>
          <a:bodyPr wrap="square" lIns="0" tIns="0" rIns="0" bIns="0" rtlCol="0" anchor="ctr"/>
          <a:lstStyle/>
          <a:p>
            <a:pPr algn="ctr" indent="0" marL="0">
              <a:buNone/>
            </a:pPr>
            <a:r>
              <a:rPr lang="en-US" sz="1400" i="1" dirty="0">
                <a:solidFill>
                  <a:srgbClr val="6B7280"/>
                </a:solidFill>
                <a:latin typeface="Calibri" pitchFamily="34" charset="0"/>
                <a:ea typeface="Calibri" pitchFamily="34" charset="-122"/>
                <a:cs typeface="Calibri" pitchFamily="34" charset="-120"/>
              </a:rPr>
              <a:t>Tréninkové křivky — Cell 16 (loss + Val Dice)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Co bych čekal u klasického overfittingu</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146304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Klasická definice overfittingu říká, že model si "zapamatoval" trénovací data včetně jejich šumu, místo aby se naučil generalizovatelné vzorce. Příznaky jsou jasné a konsistentní napříč metrikami: zlepšení na trénink doprovází stagnace nebo zhoršení na validaci, a to v každém měřítku, které sledujeme. Co vidím tady, ale tomuto vzorci úplně neodpovídá — je tam neshoda mezi loss a metrikou, kterou klasický overfitting nepředpokládá.</a:t>
            </a:r>
            <a:endParaRPr lang="en-US" sz="1300" dirty="0"/>
          </a:p>
        </p:txBody>
      </p:sp>
      <p:sp>
        <p:nvSpPr>
          <p:cNvPr id="5" name="Text 3"/>
          <p:cNvSpPr/>
          <p:nvPr/>
        </p:nvSpPr>
        <p:spPr>
          <a:xfrm>
            <a:off x="457200" y="260604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Očekávané signály overfittingu</a:t>
            </a:r>
            <a:endParaRPr lang="en-US" sz="1300" dirty="0"/>
          </a:p>
        </p:txBody>
      </p:sp>
      <p:sp>
        <p:nvSpPr>
          <p:cNvPr id="6" name="Text 4"/>
          <p:cNvSpPr/>
          <p:nvPr/>
        </p:nvSpPr>
        <p:spPr>
          <a:xfrm>
            <a:off x="640080" y="2971800"/>
            <a:ext cx="10972800" cy="2743200"/>
          </a:xfrm>
          <a:prstGeom prst="rect">
            <a:avLst/>
          </a:prstGeom>
          <a:noFill/>
          <a:ln/>
        </p:spPr>
        <p:txBody>
          <a:bodyPr wrap="square" lIns="0" tIns="0" rIns="0" bIns="0" rtlCol="0" anchor="t"/>
          <a:lstStyle/>
          <a:p>
            <a:pPr indent="0" marL="0">
              <a:spcAft>
                <a:spcPts val="400"/>
              </a:spcAft>
              <a:buNone/>
            </a:pPr>
            <a:r>
              <a:rPr lang="en-US" sz="1200" b="1" dirty="0">
                <a:solidFill>
                  <a:srgbClr val="047857"/>
                </a:solidFill>
                <a:latin typeface="Calibri" pitchFamily="34" charset="0"/>
                <a:ea typeface="Calibri" pitchFamily="34" charset="-122"/>
                <a:cs typeface="Calibri" pitchFamily="34" charset="-120"/>
              </a:rPr>
              <a:t>✓  Train loss klesá</a:t>
            </a:r>
            <a:endParaRPr lang="en-US" sz="1200" dirty="0"/>
          </a:p>
          <a:p>
            <a:pPr indent="0" marL="0">
              <a:spcAft>
                <a:spcPts val="400"/>
              </a:spcAft>
              <a:buNone/>
            </a:pPr>
            <a:r>
              <a:rPr lang="en-US" sz="1200" dirty="0">
                <a:solidFill>
                  <a:srgbClr val="6B7280"/>
                </a:solidFill>
                <a:latin typeface="Calibri" pitchFamily="34" charset="0"/>
                <a:ea typeface="Calibri" pitchFamily="34" charset="-122"/>
                <a:cs typeface="Calibri" pitchFamily="34" charset="-120"/>
              </a:rPr>
              <a:t>    Vidíme — train loss klesá z 1.33 na 0.62</a:t>
            </a:r>
            <a:endParaRPr lang="en-US" sz="1200" dirty="0"/>
          </a:p>
          <a:p>
            <a:pPr indent="0" marL="0">
              <a:spcAft>
                <a:spcPts val="400"/>
              </a:spcAft>
              <a:buNone/>
            </a:pPr>
            <a:r>
              <a:rPr lang="en-US" sz="1200" b="1" dirty="0">
                <a:solidFill>
                  <a:srgbClr val="047857"/>
                </a:solidFill>
                <a:latin typeface="Calibri" pitchFamily="34" charset="0"/>
                <a:ea typeface="Calibri" pitchFamily="34" charset="-122"/>
                <a:cs typeface="Calibri" pitchFamily="34" charset="-120"/>
              </a:rPr>
              <a:t>✓  Val loss roste</a:t>
            </a:r>
            <a:endParaRPr lang="en-US" sz="1200" dirty="0"/>
          </a:p>
          <a:p>
            <a:pPr indent="0" marL="0">
              <a:spcAft>
                <a:spcPts val="400"/>
              </a:spcAft>
              <a:buNone/>
            </a:pPr>
            <a:r>
              <a:rPr lang="en-US" sz="1200" dirty="0">
                <a:solidFill>
                  <a:srgbClr val="6B7280"/>
                </a:solidFill>
                <a:latin typeface="Calibri" pitchFamily="34" charset="0"/>
                <a:ea typeface="Calibri" pitchFamily="34" charset="-122"/>
                <a:cs typeface="Calibri" pitchFamily="34" charset="-120"/>
              </a:rPr>
              <a:t>    Vidíme — val loss roste z 1.14 na 1.44 od epochy 6</a:t>
            </a:r>
            <a:endParaRPr lang="en-US" sz="1200" dirty="0"/>
          </a:p>
          <a:p>
            <a:pPr indent="0" marL="0">
              <a:spcAft>
                <a:spcPts val="400"/>
              </a:spcAft>
              <a:buNone/>
            </a:pPr>
            <a:r>
              <a:rPr lang="en-US" sz="1200" b="1" dirty="0">
                <a:solidFill>
                  <a:srgbClr val="B91C1C"/>
                </a:solidFill>
                <a:latin typeface="Calibri" pitchFamily="34" charset="0"/>
                <a:ea typeface="Calibri" pitchFamily="34" charset="-122"/>
                <a:cs typeface="Calibri" pitchFamily="34" charset="-120"/>
              </a:rPr>
              <a:t>✗  Val metrika klesá nebo stagnuje</a:t>
            </a:r>
            <a:endParaRPr lang="en-US" sz="1200" dirty="0"/>
          </a:p>
          <a:p>
            <a:pPr indent="0" marL="0">
              <a:spcAft>
                <a:spcPts val="400"/>
              </a:spcAft>
              <a:buNone/>
            </a:pPr>
            <a:r>
              <a:rPr lang="en-US" sz="1200" dirty="0">
                <a:solidFill>
                  <a:srgbClr val="6B7280"/>
                </a:solidFill>
                <a:latin typeface="Calibri" pitchFamily="34" charset="0"/>
                <a:ea typeface="Calibri" pitchFamily="34" charset="-122"/>
                <a:cs typeface="Calibri" pitchFamily="34" charset="-120"/>
              </a:rPr>
              <a:t>    NEVIDÍME — val Dice naopak STOUPÁ z 0.27 na 0.45 monotónně</a:t>
            </a:r>
            <a:endParaRPr lang="en-US" sz="1200" dirty="0"/>
          </a:p>
          <a:p>
            <a:pPr indent="0" marL="0">
              <a:spcAft>
                <a:spcPts val="400"/>
              </a:spcAft>
              <a:buNone/>
            </a:pPr>
            <a:r>
              <a:rPr lang="en-US" sz="1200" b="1" dirty="0">
                <a:solidFill>
                  <a:srgbClr val="B91C1C"/>
                </a:solidFill>
                <a:latin typeface="Calibri" pitchFamily="34" charset="0"/>
                <a:ea typeface="Calibri" pitchFamily="34" charset="-122"/>
                <a:cs typeface="Calibri" pitchFamily="34" charset="-120"/>
              </a:rPr>
              <a:t>✗  Train metrika se přibližuje 1.0 zatímco val Dice klesá</a:t>
            </a:r>
            <a:endParaRPr lang="en-US" sz="1200" dirty="0"/>
          </a:p>
          <a:p>
            <a:pPr indent="0" marL="0">
              <a:spcAft>
                <a:spcPts val="400"/>
              </a:spcAft>
              <a:buNone/>
            </a:pPr>
            <a:r>
              <a:rPr lang="en-US" sz="1200" dirty="0">
                <a:solidFill>
                  <a:srgbClr val="6B7280"/>
                </a:solidFill>
                <a:latin typeface="Calibri" pitchFamily="34" charset="0"/>
                <a:ea typeface="Calibri" pitchFamily="34" charset="-122"/>
                <a:cs typeface="Calibri" pitchFamily="34" charset="-120"/>
              </a:rPr>
              <a:t>    NEVIDÍME — gap mezi train a val Dice zůstává konstantní</a:t>
            </a:r>
            <a:endParaRPr lang="en-US" sz="1200" dirty="0"/>
          </a:p>
        </p:txBody>
      </p:sp>
      <p:sp>
        <p:nvSpPr>
          <p:cNvPr id="7" name="Text 5"/>
          <p:cNvSpPr/>
          <p:nvPr/>
        </p:nvSpPr>
        <p:spPr>
          <a:xfrm>
            <a:off x="457200" y="585216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Co to znamená</a:t>
            </a:r>
            <a:endParaRPr lang="en-US" sz="1300" dirty="0"/>
          </a:p>
        </p:txBody>
      </p:sp>
      <p:sp>
        <p:nvSpPr>
          <p:cNvPr id="8" name="Text 6"/>
          <p:cNvSpPr/>
          <p:nvPr/>
        </p:nvSpPr>
        <p:spPr>
          <a:xfrm>
            <a:off x="457200" y="6172200"/>
            <a:ext cx="11247120" cy="54864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Buď nejde o klasický overfitting, nebo loss a Dice měří různé věci a tyto dvě veličiny se mohou rozcházet. V tomto případě platí druhé. Příští slide rozebírá, jak je to možné.</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Loss vs. Dice metrika — proč nemusí říkat totéž</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137160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Klíčem k pochopení paradoxu je, že loss funkce a Dice metrika operují na různých reprezentacích výstupu modelu. Loss pracuje s plynulými pravděpodobnostmi (soft predictions, hodnoty mezi 0 a 1), zatímco Dice metrika pracuje s binárními maskami po prahování. Tento drobný rozdíl vede k zásadně odlišnému chování v průběhu tréninku, protože každá z nich měří něco jiného o stejné predikci.</a:t>
            </a:r>
            <a:endParaRPr lang="en-US" sz="1300" dirty="0"/>
          </a:p>
        </p:txBody>
      </p:sp>
      <p:sp>
        <p:nvSpPr>
          <p:cNvPr id="5" name="Shape 3"/>
          <p:cNvSpPr/>
          <p:nvPr/>
        </p:nvSpPr>
        <p:spPr>
          <a:xfrm>
            <a:off x="457200" y="2468880"/>
            <a:ext cx="5486400" cy="3108960"/>
          </a:xfrm>
          <a:prstGeom prst="rect">
            <a:avLst/>
          </a:prstGeom>
          <a:solidFill>
            <a:srgbClr val="F8F8F8"/>
          </a:solidFill>
          <a:ln w="9525">
            <a:solidFill>
              <a:srgbClr val="E5E7EB"/>
            </a:solidFill>
            <a:prstDash val="solid"/>
          </a:ln>
        </p:spPr>
      </p:sp>
      <p:sp>
        <p:nvSpPr>
          <p:cNvPr id="6" name="Text 4"/>
          <p:cNvSpPr/>
          <p:nvPr/>
        </p:nvSpPr>
        <p:spPr>
          <a:xfrm>
            <a:off x="640080" y="2560320"/>
            <a:ext cx="5212080" cy="365760"/>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Loss (Dice + clDice) — SOFT predictions</a:t>
            </a:r>
            <a:endParaRPr lang="en-US" sz="1300" dirty="0"/>
          </a:p>
        </p:txBody>
      </p:sp>
      <p:sp>
        <p:nvSpPr>
          <p:cNvPr id="7" name="Text 5"/>
          <p:cNvSpPr/>
          <p:nvPr/>
        </p:nvSpPr>
        <p:spPr>
          <a:xfrm>
            <a:off x="640080" y="2926080"/>
            <a:ext cx="5212080" cy="26060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Vstup: pravděpodobnostní mapa (sigmoidové výstupy 0–1)</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Penalizuje overconfidence kvadraticky</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p = 0.95 na FP pixelu → vysoká penalty</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p = 0.55 na FP pixelu → nízká penalty</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Citlivá na kalibraci pravděpodobností</a:t>
            </a:r>
            <a:endParaRPr lang="en-US" sz="1100" dirty="0"/>
          </a:p>
        </p:txBody>
      </p:sp>
      <p:sp>
        <p:nvSpPr>
          <p:cNvPr id="8" name="Shape 6"/>
          <p:cNvSpPr/>
          <p:nvPr/>
        </p:nvSpPr>
        <p:spPr>
          <a:xfrm>
            <a:off x="6217920" y="2468880"/>
            <a:ext cx="5486400" cy="3108960"/>
          </a:xfrm>
          <a:prstGeom prst="rect">
            <a:avLst/>
          </a:prstGeom>
          <a:solidFill>
            <a:srgbClr val="F8F8F8"/>
          </a:solidFill>
          <a:ln w="9525">
            <a:solidFill>
              <a:srgbClr val="E5E7EB"/>
            </a:solidFill>
            <a:prstDash val="solid"/>
          </a:ln>
        </p:spPr>
      </p:sp>
      <p:sp>
        <p:nvSpPr>
          <p:cNvPr id="9" name="Text 7"/>
          <p:cNvSpPr/>
          <p:nvPr/>
        </p:nvSpPr>
        <p:spPr>
          <a:xfrm>
            <a:off x="6400800" y="2560320"/>
            <a:ext cx="5212080" cy="365760"/>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Dice metrika — BINÁRNÍ predictions</a:t>
            </a:r>
            <a:endParaRPr lang="en-US" sz="1300" dirty="0"/>
          </a:p>
        </p:txBody>
      </p:sp>
      <p:sp>
        <p:nvSpPr>
          <p:cNvPr id="10" name="Text 8"/>
          <p:cNvSpPr/>
          <p:nvPr/>
        </p:nvSpPr>
        <p:spPr>
          <a:xfrm>
            <a:off x="6400800" y="2926080"/>
            <a:ext cx="5212080" cy="26060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Vstup: binární maska (po threshold 0.5)</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p = 0.55 a p = 0.95 dají IDENTICKÝ binární výstup</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Reaguje jen na klasifikační rozhodnutí</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Necitlivá na kalibraci pravděpodobností</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Měří reálnou "detekční" schopnost modelu</a:t>
            </a:r>
            <a:endParaRPr lang="en-US" sz="1100" dirty="0"/>
          </a:p>
        </p:txBody>
      </p:sp>
      <p:sp>
        <p:nvSpPr>
          <p:cNvPr id="11" name="Text 9"/>
          <p:cNvSpPr/>
          <p:nvPr/>
        </p:nvSpPr>
        <p:spPr>
          <a:xfrm>
            <a:off x="457200" y="571500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Klíčový důsledek</a:t>
            </a:r>
            <a:endParaRPr lang="en-US" sz="1300" dirty="0"/>
          </a:p>
        </p:txBody>
      </p:sp>
      <p:sp>
        <p:nvSpPr>
          <p:cNvPr id="12" name="Text 10"/>
          <p:cNvSpPr/>
          <p:nvPr/>
        </p:nvSpPr>
        <p:spPr>
          <a:xfrm>
            <a:off x="457200" y="6035040"/>
            <a:ext cx="11247120" cy="64008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Změna p = 0.55 → 0.95 na false positive pixelu prudce zvedne loss, ale Dice metriku nezmění o nic. Dvě veličiny mohou jít proti sobě, aniž by to znamenalo problém s detekcí.</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Mechanismus — co se děje s pravděpodobnostmi v průběhu tréninku</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118872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V průběhu epoch se model stává čím dál tím sebejistější — sigmoidové výstupy se polarizují k 0 nebo 1. Tato polarizace má rozdílný dopad na loss a Dice podle typu predikce. Tabulka níže ukazuje, jak se mění příspěvek čtyř typů predikcí (TP, TN, FP, FN) k oběma veličinám při polarizaci pravděpodobností.</a:t>
            </a:r>
            <a:endParaRPr lang="en-US" sz="1300" dirty="0"/>
          </a:p>
        </p:txBody>
      </p:sp>
      <p:sp>
        <p:nvSpPr>
          <p:cNvPr id="5" name="Text 3"/>
          <p:cNvSpPr/>
          <p:nvPr/>
        </p:nvSpPr>
        <p:spPr>
          <a:xfrm>
            <a:off x="457200" y="237744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Chování čtyř typů predikcí při polarizaci</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11247120" cy="914400"/>
        </p:xfrm>
        <a:graphic>
          <a:graphicData uri="http://schemas.openxmlformats.org/drawingml/2006/table">
            <a:tbl>
              <a:tblPr/>
              <a:tblGrid>
                <a:gridCol w="3017520"/>
                <a:gridCol w="1828800"/>
                <a:gridCol w="3017520"/>
                <a:gridCol w="3383280"/>
              </a:tblGrid>
              <a:tr h="36576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Typ</a:t>
                      </a:r>
                      <a:endParaRPr lang="en-US" sz="1200" dirty="0">
                        <a:latin typeface="Calibri" charset="0"/>
                        <a:ea typeface="Calibri" charset="0"/>
                        <a:cs typeface="Calibri"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Změna p</a:t>
                      </a:r>
                      <a:endParaRPr lang="en-US" sz="1200" dirty="0">
                        <a:latin typeface="Calibri" charset="0"/>
                        <a:ea typeface="Calibri" charset="0"/>
                        <a:cs typeface="Calibri"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Dopad na Loss</a:t>
                      </a:r>
                      <a:endParaRPr lang="en-US" sz="1200" dirty="0">
                        <a:latin typeface="Calibri" charset="0"/>
                        <a:ea typeface="Calibri" charset="0"/>
                        <a:cs typeface="Calibri"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Dopad na Dice</a:t>
                      </a:r>
                      <a:endParaRPr lang="en-US" sz="1200" dirty="0">
                        <a:latin typeface="Calibri" charset="0"/>
                        <a:ea typeface="Calibri" charset="0"/>
                        <a:cs typeface="Calibri"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65760">
                <a:tc>
                  <a:txBody>
                    <a:bodyPr/>
                    <a:lstStyle/>
                    <a:p>
                      <a:pPr indent="0" marL="0">
                        <a:buNone/>
                      </a:pPr>
                      <a:r>
                        <a:rPr lang="en-US" sz="1200" b="1" dirty="0">
                          <a:solidFill>
                            <a:srgbClr val="047857"/>
                          </a:solidFill>
                          <a:latin typeface="Calibri" pitchFamily="34" charset="0"/>
                          <a:ea typeface="Calibri" pitchFamily="34" charset="-122"/>
                          <a:cs typeface="Calibri" pitchFamily="34" charset="-120"/>
                        </a:rPr>
                        <a:t>TP — správný hit</a:t>
                      </a:r>
                      <a:endParaRPr lang="en-US" sz="1200" dirty="0">
                        <a:latin typeface="Calibri" charset="0"/>
                        <a:ea typeface="Calibri" charset="0"/>
                        <a:cs typeface="Calibri"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onsolas" pitchFamily="34" charset="0"/>
                          <a:ea typeface="Consolas" pitchFamily="34" charset="-122"/>
                          <a:cs typeface="Consolas" pitchFamily="34" charset="-120"/>
                        </a:rPr>
                        <a:t>0.7 → 0.95</a:t>
                      </a:r>
                      <a:endParaRPr lang="en-US" sz="1200" dirty="0">
                        <a:latin typeface="Consolas" charset="0"/>
                        <a:ea typeface="Consolas" charset="0"/>
                        <a:cs typeface="Consolas"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47857"/>
                          </a:solidFill>
                          <a:latin typeface="Calibri" pitchFamily="34" charset="0"/>
                          <a:ea typeface="Calibri" pitchFamily="34" charset="-122"/>
                          <a:cs typeface="Calibri" pitchFamily="34" charset="-120"/>
                        </a:rPr>
                        <a:t>klesá</a:t>
                      </a:r>
                      <a:endParaRPr lang="en-US" sz="1200" dirty="0">
                        <a:latin typeface="Calibri" charset="0"/>
                        <a:ea typeface="Calibri" charset="0"/>
                        <a:cs typeface="Calibri"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6B7280"/>
                          </a:solidFill>
                          <a:latin typeface="Calibri" pitchFamily="34" charset="0"/>
                          <a:ea typeface="Calibri" pitchFamily="34" charset="-122"/>
                          <a:cs typeface="Calibri" pitchFamily="34" charset="-120"/>
                        </a:rPr>
                        <a:t>nemění (stále nad 0.5)</a:t>
                      </a:r>
                      <a:endParaRPr lang="en-US" sz="1200" dirty="0">
                        <a:latin typeface="Calibri" charset="0"/>
                        <a:ea typeface="Calibri" charset="0"/>
                        <a:cs typeface="Calibri"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65760">
                <a:tc>
                  <a:txBody>
                    <a:bodyPr/>
                    <a:lstStyle/>
                    <a:p>
                      <a:pPr indent="0" marL="0">
                        <a:buNone/>
                      </a:pPr>
                      <a:r>
                        <a:rPr lang="en-US" sz="1200" b="1" dirty="0">
                          <a:solidFill>
                            <a:srgbClr val="047857"/>
                          </a:solidFill>
                          <a:latin typeface="Calibri" pitchFamily="34" charset="0"/>
                          <a:ea typeface="Calibri" pitchFamily="34" charset="-122"/>
                          <a:cs typeface="Calibri" pitchFamily="34" charset="-120"/>
                        </a:rPr>
                        <a:t>TN — správný negativ</a:t>
                      </a:r>
                      <a:endParaRPr lang="en-US" sz="1200" dirty="0">
                        <a:latin typeface="Calibri" charset="0"/>
                        <a:ea typeface="Calibri" charset="0"/>
                        <a:cs typeface="Calibri"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onsolas" pitchFamily="34" charset="0"/>
                          <a:ea typeface="Consolas" pitchFamily="34" charset="-122"/>
                          <a:cs typeface="Consolas" pitchFamily="34" charset="-120"/>
                        </a:rPr>
                        <a:t>0.3 → 0.05</a:t>
                      </a:r>
                      <a:endParaRPr lang="en-US" sz="1200" dirty="0">
                        <a:latin typeface="Consolas" charset="0"/>
                        <a:ea typeface="Consolas" charset="0"/>
                        <a:cs typeface="Consolas"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47857"/>
                          </a:solidFill>
                          <a:latin typeface="Calibri" pitchFamily="34" charset="0"/>
                          <a:ea typeface="Calibri" pitchFamily="34" charset="-122"/>
                          <a:cs typeface="Calibri" pitchFamily="34" charset="-120"/>
                        </a:rPr>
                        <a:t>klesá</a:t>
                      </a:r>
                      <a:endParaRPr lang="en-US" sz="1200" dirty="0">
                        <a:latin typeface="Calibri" charset="0"/>
                        <a:ea typeface="Calibri" charset="0"/>
                        <a:cs typeface="Calibri"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6B7280"/>
                          </a:solidFill>
                          <a:latin typeface="Calibri" pitchFamily="34" charset="0"/>
                          <a:ea typeface="Calibri" pitchFamily="34" charset="-122"/>
                          <a:cs typeface="Calibri" pitchFamily="34" charset="-120"/>
                        </a:rPr>
                        <a:t>nemění (stále pod 0.5)</a:t>
                      </a:r>
                      <a:endParaRPr lang="en-US" sz="1200" dirty="0">
                        <a:latin typeface="Calibri" charset="0"/>
                        <a:ea typeface="Calibri" charset="0"/>
                        <a:cs typeface="Calibri"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65760">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FP — false positive</a:t>
                      </a:r>
                      <a:endParaRPr lang="en-US" sz="1200" dirty="0">
                        <a:latin typeface="Calibri" charset="0"/>
                        <a:ea typeface="Calibri" charset="0"/>
                        <a:cs typeface="Calibri"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onsolas" pitchFamily="34" charset="0"/>
                          <a:ea typeface="Consolas" pitchFamily="34" charset="-122"/>
                          <a:cs typeface="Consolas" pitchFamily="34" charset="-120"/>
                        </a:rPr>
                        <a:t>0.55 → 0.85</a:t>
                      </a:r>
                      <a:endParaRPr lang="en-US" sz="1200" dirty="0">
                        <a:latin typeface="Consolas" charset="0"/>
                        <a:ea typeface="Consolas" charset="0"/>
                        <a:cs typeface="Consolas"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ROSTE prudce</a:t>
                      </a:r>
                      <a:endParaRPr lang="en-US" sz="1200" dirty="0">
                        <a:latin typeface="Calibri" charset="0"/>
                        <a:ea typeface="Calibri" charset="0"/>
                        <a:cs typeface="Calibri"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6B7280"/>
                          </a:solidFill>
                          <a:latin typeface="Calibri" pitchFamily="34" charset="0"/>
                          <a:ea typeface="Calibri" pitchFamily="34" charset="-122"/>
                          <a:cs typeface="Calibri" pitchFamily="34" charset="-120"/>
                        </a:rPr>
                        <a:t>nemění (stále nad 0.5)</a:t>
                      </a:r>
                      <a:endParaRPr lang="en-US" sz="1200" dirty="0">
                        <a:latin typeface="Calibri" charset="0"/>
                        <a:ea typeface="Calibri" charset="0"/>
                        <a:cs typeface="Calibri"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65760">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FN — false negativ</a:t>
                      </a:r>
                      <a:endParaRPr lang="en-US" sz="1200" dirty="0">
                        <a:latin typeface="Calibri" charset="0"/>
                        <a:ea typeface="Calibri" charset="0"/>
                        <a:cs typeface="Calibri"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onsolas" pitchFamily="34" charset="0"/>
                          <a:ea typeface="Consolas" pitchFamily="34" charset="-122"/>
                          <a:cs typeface="Consolas" pitchFamily="34" charset="-120"/>
                        </a:rPr>
                        <a:t>0.4 → 0.45</a:t>
                      </a:r>
                      <a:endParaRPr lang="en-US" sz="1200" dirty="0">
                        <a:latin typeface="Consolas" charset="0"/>
                        <a:ea typeface="Consolas" charset="0"/>
                        <a:cs typeface="Consolas"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6B7280"/>
                          </a:solidFill>
                          <a:latin typeface="Calibri" pitchFamily="34" charset="0"/>
                          <a:ea typeface="Calibri" pitchFamily="34" charset="-122"/>
                          <a:cs typeface="Calibri" pitchFamily="34" charset="-120"/>
                        </a:rPr>
                        <a:t>klesá mírně</a:t>
                      </a:r>
                      <a:endParaRPr lang="en-US" sz="1200" dirty="0">
                        <a:latin typeface="Calibri" charset="0"/>
                        <a:ea typeface="Calibri" charset="0"/>
                        <a:cs typeface="Calibri"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6B7280"/>
                          </a:solidFill>
                          <a:latin typeface="Calibri" pitchFamily="34" charset="0"/>
                          <a:ea typeface="Calibri" pitchFamily="34" charset="-122"/>
                          <a:cs typeface="Calibri" pitchFamily="34" charset="-120"/>
                        </a:rPr>
                        <a:t>nemění (stále pod 0.5)</a:t>
                      </a:r>
                      <a:endParaRPr lang="en-US" sz="1200" dirty="0">
                        <a:latin typeface="Calibri" charset="0"/>
                        <a:ea typeface="Calibri" charset="0"/>
                        <a:cs typeface="Calibri" charset="0"/>
                      </a:endParaRPr>
                    </a:p>
                  </a:txBody>
                  <a:tcPr marL="45720" marR="4572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7" name="Text 4"/>
          <p:cNvSpPr/>
          <p:nvPr/>
        </p:nvSpPr>
        <p:spPr>
          <a:xfrm>
            <a:off x="457200" y="512064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Net efekt na celý dataset</a:t>
            </a:r>
            <a:endParaRPr lang="en-US" sz="1300" dirty="0"/>
          </a:p>
        </p:txBody>
      </p:sp>
      <p:sp>
        <p:nvSpPr>
          <p:cNvPr id="8" name="Text 5"/>
          <p:cNvSpPr/>
          <p:nvPr/>
        </p:nvSpPr>
        <p:spPr>
          <a:xfrm>
            <a:off x="640080" y="5440680"/>
            <a:ext cx="10972800" cy="12801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Train loss klesá monotónně — model se učí TP a TN, kterých je v tréninku dost</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Val loss roste — FP a FN se stávají confident, kvadratická penalty dominuje</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Val Dice se zlepšuje — víc TP překračuje 0.5 threshold, model lépe detekuje</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Predikce jsou tedy GEOMETRICKY lepší, ale špatně KALIBROVANÉ</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Je to tedy overfitting — ano nebo ne?</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128016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Odpověď závisí na tom, jak overfitting definujeme. Striktní statistický pohled říká ano (train/val gap se rozevírá), praktický pohled říká ne (model se zlepšuje v tom, co od něj chceme — najít hráze). Pravdou je, že obě tvrzení jsou kompatibilní a říkají různé věci. Skutečný problém ale leží jinde — v tom, jak vybíráme "best checkpoint".</a:t>
            </a:r>
            <a:endParaRPr lang="en-US" sz="1300" dirty="0"/>
          </a:p>
        </p:txBody>
      </p:sp>
      <p:sp>
        <p:nvSpPr>
          <p:cNvPr id="5" name="Shape 3"/>
          <p:cNvSpPr/>
          <p:nvPr/>
        </p:nvSpPr>
        <p:spPr>
          <a:xfrm>
            <a:off x="457200" y="2331720"/>
            <a:ext cx="5486400" cy="1783080"/>
          </a:xfrm>
          <a:prstGeom prst="rect">
            <a:avLst/>
          </a:prstGeom>
          <a:solidFill>
            <a:srgbClr val="F8F8F8"/>
          </a:solidFill>
          <a:ln w="9525">
            <a:solidFill>
              <a:srgbClr val="E5E7EB"/>
            </a:solidFill>
            <a:prstDash val="solid"/>
          </a:ln>
        </p:spPr>
      </p:sp>
      <p:sp>
        <p:nvSpPr>
          <p:cNvPr id="6" name="Text 4"/>
          <p:cNvSpPr/>
          <p:nvPr/>
        </p:nvSpPr>
        <p:spPr>
          <a:xfrm>
            <a:off x="640080" y="2423160"/>
            <a:ext cx="5212080" cy="365760"/>
          </a:xfrm>
          <a:prstGeom prst="rect">
            <a:avLst/>
          </a:prstGeom>
          <a:noFill/>
          <a:ln/>
        </p:spPr>
        <p:txBody>
          <a:bodyPr wrap="square" lIns="0" tIns="0" rIns="0" bIns="0" rtlCol="0" anchor="ctr"/>
          <a:lstStyle/>
          <a:p>
            <a:pPr indent="0" marL="0">
              <a:buNone/>
            </a:pPr>
            <a:r>
              <a:rPr lang="en-US" sz="1300" b="1" dirty="0">
                <a:solidFill>
                  <a:srgbClr val="B91C1C"/>
                </a:solidFill>
                <a:latin typeface="Calibri" pitchFamily="34" charset="0"/>
                <a:ea typeface="Calibri" pitchFamily="34" charset="-122"/>
                <a:cs typeface="Calibri" pitchFamily="34" charset="-120"/>
              </a:rPr>
              <a:t>Striktní statistický pohled — ANO</a:t>
            </a:r>
            <a:endParaRPr lang="en-US" sz="1300" dirty="0"/>
          </a:p>
        </p:txBody>
      </p:sp>
      <p:sp>
        <p:nvSpPr>
          <p:cNvPr id="7" name="Text 5"/>
          <p:cNvSpPr/>
          <p:nvPr/>
        </p:nvSpPr>
        <p:spPr>
          <a:xfrm>
            <a:off x="640080" y="2788920"/>
            <a:ext cx="5212080" cy="13258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Train/val gap v loss se rozevírá z 0 na 0.82</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Model si "memoruje" trénink</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Kalibrace pravděpodobností se zhoršuje</a:t>
            </a:r>
            <a:endParaRPr lang="en-US" sz="1100" dirty="0"/>
          </a:p>
        </p:txBody>
      </p:sp>
      <p:sp>
        <p:nvSpPr>
          <p:cNvPr id="8" name="Shape 6"/>
          <p:cNvSpPr/>
          <p:nvPr/>
        </p:nvSpPr>
        <p:spPr>
          <a:xfrm>
            <a:off x="6217920" y="2331720"/>
            <a:ext cx="5486400" cy="1783080"/>
          </a:xfrm>
          <a:prstGeom prst="rect">
            <a:avLst/>
          </a:prstGeom>
          <a:solidFill>
            <a:srgbClr val="F8F8F8"/>
          </a:solidFill>
          <a:ln w="9525">
            <a:solidFill>
              <a:srgbClr val="E5E7EB"/>
            </a:solidFill>
            <a:prstDash val="solid"/>
          </a:ln>
        </p:spPr>
      </p:sp>
      <p:sp>
        <p:nvSpPr>
          <p:cNvPr id="9" name="Text 7"/>
          <p:cNvSpPr/>
          <p:nvPr/>
        </p:nvSpPr>
        <p:spPr>
          <a:xfrm>
            <a:off x="6400800" y="2423160"/>
            <a:ext cx="5212080" cy="365760"/>
          </a:xfrm>
          <a:prstGeom prst="rect">
            <a:avLst/>
          </a:prstGeom>
          <a:noFill/>
          <a:ln/>
        </p:spPr>
        <p:txBody>
          <a:bodyPr wrap="square" lIns="0" tIns="0" rIns="0" bIns="0" rtlCol="0" anchor="ctr"/>
          <a:lstStyle/>
          <a:p>
            <a:pPr indent="0" marL="0">
              <a:buNone/>
            </a:pPr>
            <a:r>
              <a:rPr lang="en-US" sz="1300" b="1" dirty="0">
                <a:solidFill>
                  <a:srgbClr val="047857"/>
                </a:solidFill>
                <a:latin typeface="Calibri" pitchFamily="34" charset="0"/>
                <a:ea typeface="Calibri" pitchFamily="34" charset="-122"/>
                <a:cs typeface="Calibri" pitchFamily="34" charset="-120"/>
              </a:rPr>
              <a:t>Praktický pohled — NE</a:t>
            </a:r>
            <a:endParaRPr lang="en-US" sz="1300" dirty="0"/>
          </a:p>
        </p:txBody>
      </p:sp>
      <p:sp>
        <p:nvSpPr>
          <p:cNvPr id="10" name="Text 8"/>
          <p:cNvSpPr/>
          <p:nvPr/>
        </p:nvSpPr>
        <p:spPr>
          <a:xfrm>
            <a:off x="6400800" y="2788920"/>
            <a:ext cx="5212080" cy="13258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Val Dice se zlepšuje monotónně po celých 50 epoch</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Vizualizace ukazují čím dál lepší detekci hrází</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Pokud cíl je binární maska, model dělá tu práci stále lépe</a:t>
            </a:r>
            <a:endParaRPr lang="en-US" sz="1100" dirty="0"/>
          </a:p>
        </p:txBody>
      </p:sp>
      <p:sp>
        <p:nvSpPr>
          <p:cNvPr id="11" name="Text 9"/>
          <p:cNvSpPr/>
          <p:nvPr/>
        </p:nvSpPr>
        <p:spPr>
          <a:xfrm>
            <a:off x="457200" y="429768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Co je SKUTEČNÝ problém — výběr checkpointu</a:t>
            </a:r>
            <a:endParaRPr lang="en-US" sz="1300" dirty="0"/>
          </a:p>
        </p:txBody>
      </p:sp>
      <p:sp>
        <p:nvSpPr>
          <p:cNvPr id="12" name="Text 10"/>
          <p:cNvSpPr/>
          <p:nvPr/>
        </p:nvSpPr>
        <p:spPr>
          <a:xfrm>
            <a:off x="640080" y="4617720"/>
            <a:ext cx="10972800" cy="15544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Vybíráme epochu s nejnižším val_loss → epocha 9 (val_Dice 0.350)</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Ale nejvyšší val_Dice je v epoše 48 (val_Dice 0.455)</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Test set běžel s checkpointem z epochy 9 → overall Dice 0.349</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Pokud bychom použili epochu 48 → očekávaný overall Dice ~0.44</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Tedy: nesprávná volba kritéria nás stála ~10 procentních bodů Dice</a:t>
            </a:r>
            <a:endParaRPr lang="en-US" sz="1200" dirty="0"/>
          </a:p>
        </p:txBody>
      </p:sp>
      <p:sp>
        <p:nvSpPr>
          <p:cNvPr id="13" name="Shape 11"/>
          <p:cNvSpPr/>
          <p:nvPr/>
        </p:nvSpPr>
        <p:spPr>
          <a:xfrm>
            <a:off x="1371600" y="6263640"/>
            <a:ext cx="9418320" cy="365760"/>
          </a:xfrm>
          <a:prstGeom prst="rect">
            <a:avLst/>
          </a:prstGeom>
          <a:solidFill>
            <a:srgbClr val="FFF7ED"/>
          </a:solidFill>
          <a:ln w="19050">
            <a:solidFill>
              <a:srgbClr val="EA580C"/>
            </a:solidFill>
            <a:prstDash val="solid"/>
          </a:ln>
        </p:spPr>
      </p:sp>
      <p:sp>
        <p:nvSpPr>
          <p:cNvPr id="14" name="Text 12"/>
          <p:cNvSpPr/>
          <p:nvPr/>
        </p:nvSpPr>
        <p:spPr>
          <a:xfrm>
            <a:off x="1371600" y="6263640"/>
            <a:ext cx="9418320" cy="365760"/>
          </a:xfrm>
          <a:prstGeom prst="rect">
            <a:avLst/>
          </a:prstGeom>
          <a:noFill/>
          <a:ln/>
        </p:spPr>
        <p:txBody>
          <a:bodyPr wrap="square" lIns="0" tIns="0" rIns="0" bIns="0" rtlCol="0" anchor="ctr"/>
          <a:lstStyle/>
          <a:p>
            <a:pPr algn="ctr" indent="0" marL="0">
              <a:buNone/>
            </a:pPr>
            <a:r>
              <a:rPr lang="en-US" sz="1300" b="1" dirty="0">
                <a:solidFill>
                  <a:srgbClr val="EA580C"/>
                </a:solidFill>
                <a:latin typeface="Calibri" pitchFamily="34" charset="0"/>
                <a:ea typeface="Calibri" pitchFamily="34" charset="-122"/>
                <a:cs typeface="Calibri" pitchFamily="34" charset="-120"/>
              </a:rPr>
              <a:t>&gt;&gt;&gt; PŘESKOČIT DO NOTEBOOKU !! Vizualizace predikcí (Cell 20) &lt;&lt;&lt;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Praktické důsledky pro druhý tréninkový běh</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118872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Z pozorovaného chování vyplývá několik konkrétních úprav, které chci aplikovat na další běh. Nejdůležitější je změnit kritérium výběru best checkpointu — to mi přidá ~0.10 Dice okamžitě bez jakékoliv další změny modelu nebo dat. Ostatní úpravy jsou volitelné a závisí na tom, kolik času investuji do iterací.</a:t>
            </a:r>
            <a:endParaRPr lang="en-US" sz="1300" dirty="0"/>
          </a:p>
        </p:txBody>
      </p:sp>
      <p:sp>
        <p:nvSpPr>
          <p:cNvPr id="5" name="Text 3"/>
          <p:cNvSpPr/>
          <p:nvPr/>
        </p:nvSpPr>
        <p:spPr>
          <a:xfrm>
            <a:off x="457200" y="228600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Okamžité úpravy (high impact, low effort)</a:t>
            </a:r>
            <a:endParaRPr lang="en-US" sz="1300" dirty="0"/>
          </a:p>
        </p:txBody>
      </p:sp>
      <p:sp>
        <p:nvSpPr>
          <p:cNvPr id="6" name="Text 4"/>
          <p:cNvSpPr/>
          <p:nvPr/>
        </p:nvSpPr>
        <p:spPr>
          <a:xfrm>
            <a:off x="640080" y="2606040"/>
            <a:ext cx="10972800" cy="7315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Best checkpoint podle val_Dice (ne val_loss) — okamžitý zisk ~0.10 Dice</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Případně val_clDice — odpovídá topologickému cíli ještě lépe</a:t>
            </a:r>
            <a:endParaRPr lang="en-US" sz="1200" dirty="0"/>
          </a:p>
        </p:txBody>
      </p:sp>
      <p:sp>
        <p:nvSpPr>
          <p:cNvPr id="7" name="Text 5"/>
          <p:cNvSpPr/>
          <p:nvPr/>
        </p:nvSpPr>
        <p:spPr>
          <a:xfrm>
            <a:off x="457200" y="352044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Potenciální iterace (volitelné)</a:t>
            </a:r>
            <a:endParaRPr lang="en-US" sz="1300" dirty="0"/>
          </a:p>
        </p:txBody>
      </p:sp>
      <p:sp>
        <p:nvSpPr>
          <p:cNvPr id="8" name="Text 6"/>
          <p:cNvSpPr/>
          <p:nvPr/>
        </p:nvSpPr>
        <p:spPr>
          <a:xfrm>
            <a:off x="640080" y="3840480"/>
            <a:ext cx="10972800" cy="14630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Early stopping na val_Dice s patience 10 epoch — pravděpodobně by stačilo 30 epoch</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Vyšší weight decay (1e-3 místo 1e-4) — může pomoci s kalibrací</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Více augmentací (intensity, geometric) — klasická obrana proti overfittingu v loss</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Post-hoc kalibrace (Platt / temperature scaling) — pokud potřebujeme threshold ≠ 0.5</a:t>
            </a:r>
            <a:endParaRPr lang="en-US" sz="1200" dirty="0"/>
          </a:p>
        </p:txBody>
      </p:sp>
      <p:sp>
        <p:nvSpPr>
          <p:cNvPr id="9" name="Text 7"/>
          <p:cNvSpPr/>
          <p:nvPr/>
        </p:nvSpPr>
        <p:spPr>
          <a:xfrm>
            <a:off x="457200" y="544068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Důležité použití v diplomce</a:t>
            </a:r>
            <a:endParaRPr lang="en-US" sz="1300" dirty="0"/>
          </a:p>
        </p:txBody>
      </p:sp>
      <p:sp>
        <p:nvSpPr>
          <p:cNvPr id="10" name="Text 8"/>
          <p:cNvSpPr/>
          <p:nvPr/>
        </p:nvSpPr>
        <p:spPr>
          <a:xfrm>
            <a:off x="457200" y="5760720"/>
            <a:ext cx="11247120" cy="91440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Toto rozcházení loss a metriky je didakticky cenný bod do diplomky. Loss není to samé jako cílová metrika, výběr kritéria pro best model je netriviální designové rozhodnutí, které ovlivnilo finální výsledky o 10 procentních bodů. Stojí za to ho zmínit jako poučení z prvního experimentu, ne jen jako technickou drobnost.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Otevřený bod 1 — Generalizace PL → NL</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137160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Současný setup trénuje a testuje na sjednoceném PL + NL datasetu. Tím se měří kombinovaný výkon, ale nikoli čistá generalizace mezi regiony. Pokud má diplomka silně argumentovat, že metoda funguje napříč geografickými kontexty, potřebujeme cross-region evaluaci: trénovat jen na PL a testovat jen na NL (a obráceně). Toto je v plánu jako separátní experiment, ale chci si být jistý, že načasování dává smysl a že má prioritu před jinými iteracemi (například ladění hyperparametrů nebo trénink SegFormeru).</a:t>
            </a:r>
            <a:endParaRPr lang="en-US" sz="1300" dirty="0"/>
          </a:p>
        </p:txBody>
      </p:sp>
      <p:sp>
        <p:nvSpPr>
          <p:cNvPr id="5" name="Text 3"/>
          <p:cNvSpPr/>
          <p:nvPr/>
        </p:nvSpPr>
        <p:spPr>
          <a:xfrm>
            <a:off x="457200" y="242316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Co cross-region evaluace přidá</a:t>
            </a:r>
            <a:endParaRPr lang="en-US" sz="1300" dirty="0"/>
          </a:p>
        </p:txBody>
      </p:sp>
      <p:sp>
        <p:nvSpPr>
          <p:cNvPr id="6" name="Text 4"/>
          <p:cNvSpPr/>
          <p:nvPr/>
        </p:nvSpPr>
        <p:spPr>
          <a:xfrm>
            <a:off x="640080" y="2743200"/>
            <a:ext cx="1097280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Skutečně testuje, jestli model umí přenést koncept "hráz" napříč regiony s odlišnou typologií</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Silnější argument pro generalizaci v diplomce ("funguje i na regionu, který model nikdy neviděl")</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Identifikuje, jestli má model systematickou bias k jednomu typu hrází (PL masivní, NL menší)</a:t>
            </a:r>
            <a:endParaRPr lang="en-US" sz="1200" dirty="0"/>
          </a:p>
        </p:txBody>
      </p:sp>
      <p:sp>
        <p:nvSpPr>
          <p:cNvPr id="7" name="Text 5"/>
          <p:cNvSpPr/>
          <p:nvPr/>
        </p:nvSpPr>
        <p:spPr>
          <a:xfrm>
            <a:off x="457200" y="402336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Předpokládaná zjištění</a:t>
            </a:r>
            <a:endParaRPr lang="en-US" sz="1300" dirty="0"/>
          </a:p>
        </p:txBody>
      </p:sp>
      <p:sp>
        <p:nvSpPr>
          <p:cNvPr id="8" name="Text 6"/>
          <p:cNvSpPr/>
          <p:nvPr/>
        </p:nvSpPr>
        <p:spPr>
          <a:xfrm>
            <a:off x="640080" y="4343400"/>
            <a:ext cx="10972800" cy="128016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PL → PL:  nejlepší výsledky (in-distribution, nejvíc trénovacích dat)</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PL+NL → PL+NL:  lehce horší než PL→PL (kompromis mezi typy hrází)</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PL → NL:  pravděpodobně horší (out-of-distribution, NL hráze menší)</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NL → PL:  pravděpodobně horší (NL má méně dat a žádné L hráze)</a:t>
            </a:r>
            <a:endParaRPr lang="en-US" sz="1100" dirty="0"/>
          </a:p>
        </p:txBody>
      </p:sp>
      <p:sp>
        <p:nvSpPr>
          <p:cNvPr id="9" name="Shape 7"/>
          <p:cNvSpPr/>
          <p:nvPr/>
        </p:nvSpPr>
        <p:spPr>
          <a:xfrm>
            <a:off x="457200" y="5760720"/>
            <a:ext cx="11247120" cy="868680"/>
          </a:xfrm>
          <a:prstGeom prst="rect">
            <a:avLst/>
          </a:prstGeom>
          <a:solidFill>
            <a:srgbClr val="F8F8F8"/>
          </a:solidFill>
          <a:ln w="19050">
            <a:solidFill>
              <a:srgbClr val="1E40AF"/>
            </a:solidFill>
            <a:prstDash val="solid"/>
          </a:ln>
        </p:spPr>
      </p:sp>
      <p:sp>
        <p:nvSpPr>
          <p:cNvPr id="10" name="Text 8"/>
          <p:cNvSpPr/>
          <p:nvPr/>
        </p:nvSpPr>
        <p:spPr>
          <a:xfrm>
            <a:off x="640080" y="5806440"/>
            <a:ext cx="10972800" cy="777240"/>
          </a:xfrm>
          <a:prstGeom prst="rect">
            <a:avLst/>
          </a:prstGeom>
          <a:noFill/>
          <a:ln/>
        </p:spPr>
        <p:txBody>
          <a:bodyPr wrap="square" lIns="0" tIns="0" rIns="0" bIns="0" rtlCol="0" anchor="ctr"/>
          <a:lstStyle/>
          <a:p>
            <a:pPr indent="0" marL="0">
              <a:buNone/>
            </a:pPr>
            <a:r>
              <a:rPr lang="en-US" sz="1200" b="1" dirty="0">
                <a:solidFill>
                  <a:srgbClr val="1E40AF"/>
                </a:solidFill>
                <a:latin typeface="Calibri" pitchFamily="34" charset="0"/>
                <a:ea typeface="Calibri" pitchFamily="34" charset="-122"/>
                <a:cs typeface="Calibri" pitchFamily="34" charset="-120"/>
              </a:rPr>
              <a:t>Otázka  </a:t>
            </a:r>
            <a:pPr indent="0" marL="0">
              <a:buNone/>
            </a:pPr>
            <a:r>
              <a:rPr lang="en-US" sz="1200" dirty="0">
                <a:solidFill>
                  <a:srgbClr val="2D2D2D"/>
                </a:solidFill>
                <a:latin typeface="Calibri" pitchFamily="34" charset="0"/>
                <a:ea typeface="Calibri" pitchFamily="34" charset="-122"/>
                <a:cs typeface="Calibri" pitchFamily="34" charset="-120"/>
              </a:rPr>
              <a:t>Doporučujete cross-region jako prioritní experiment, nebo počkat na výsledky společného modelu a teprve podle nich rozhodnout? Můj návrh: nejprve dokončit společný běh, pak teprve cross-region.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Otevřený bod 2 — Hypotéza S / M / L</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132588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Hypotéza o lepší detekci větších hrází je intuitivně silná, ale není garantovaná. Větší řeky mají sice masivnější hráze, ale také komplexnější okolní topografii (terasy, niva, urbanizace), což může detekci ztěžovat. Menší řeky mají jednodušší topografický kontext, ale samotná hráz je menší a hůř viditelná v 30 m DSM. Výsledky proto nejsou předem dané a ať dopadne hypotéza jakkoli, výsledek bude validní zjištění pro diplomku.</a:t>
            </a:r>
            <a:endParaRPr lang="en-US" sz="1300" dirty="0"/>
          </a:p>
        </p:txBody>
      </p:sp>
      <p:sp>
        <p:nvSpPr>
          <p:cNvPr id="5" name="Text 3"/>
          <p:cNvSpPr/>
          <p:nvPr/>
        </p:nvSpPr>
        <p:spPr>
          <a:xfrm>
            <a:off x="457200" y="237744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Co budeme schopni vyhodnotit</a:t>
            </a:r>
            <a:endParaRPr lang="en-US" sz="1300" dirty="0"/>
          </a:p>
        </p:txBody>
      </p:sp>
      <p:sp>
        <p:nvSpPr>
          <p:cNvPr id="6" name="Text 4"/>
          <p:cNvSpPr/>
          <p:nvPr/>
        </p:nvSpPr>
        <p:spPr>
          <a:xfrm>
            <a:off x="640080" y="2697480"/>
            <a:ext cx="1097280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Per-category Dice, IoU, clDice z testovacího setu (sekce 8 notebooku)</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Vizuální inspekce best / median / worst per kategorie (sekce 9)</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Breakdown PL vs. NL — NL pravděpodobně bez kategorie L (Maas / Rijn jsou na hranici)</a:t>
            </a:r>
            <a:endParaRPr lang="en-US" sz="1200" dirty="0"/>
          </a:p>
        </p:txBody>
      </p:sp>
      <p:sp>
        <p:nvSpPr>
          <p:cNvPr id="7" name="Text 5"/>
          <p:cNvSpPr/>
          <p:nvPr/>
        </p:nvSpPr>
        <p:spPr>
          <a:xfrm>
            <a:off x="457200" y="397764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Co může komplikovat interpretaci</a:t>
            </a:r>
            <a:endParaRPr lang="en-US" sz="1300" dirty="0"/>
          </a:p>
        </p:txBody>
      </p:sp>
      <p:sp>
        <p:nvSpPr>
          <p:cNvPr id="8" name="Text 6"/>
          <p:cNvSpPr/>
          <p:nvPr/>
        </p:nvSpPr>
        <p:spPr>
          <a:xfrm>
            <a:off x="640080" y="4297680"/>
            <a:ext cx="10972800" cy="13716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Distribuce hrází napříč kategoriemi není rovnoměrná — L kategorie má méně hrází</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Polderové prstence v NL geometricky neodpovídají říční stratifikaci, ale stratifikace je řeší jako S</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TOP10NL nekompletnost — některé NL "false positives" mohou být reálné hráze chybějící v labelech</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30 m DSM má fyzikální limit — pro hráze tenčí než ~30 m je signál pod úrovní rozlišení</a:t>
            </a:r>
            <a:endParaRPr lang="en-US" sz="1200" dirty="0"/>
          </a:p>
        </p:txBody>
      </p:sp>
      <p:sp>
        <p:nvSpPr>
          <p:cNvPr id="9" name="Shape 7"/>
          <p:cNvSpPr/>
          <p:nvPr/>
        </p:nvSpPr>
        <p:spPr>
          <a:xfrm>
            <a:off x="457200" y="5760720"/>
            <a:ext cx="11247120" cy="868680"/>
          </a:xfrm>
          <a:prstGeom prst="rect">
            <a:avLst/>
          </a:prstGeom>
          <a:solidFill>
            <a:srgbClr val="F8F8F8"/>
          </a:solidFill>
          <a:ln w="19050">
            <a:solidFill>
              <a:srgbClr val="1E40AF"/>
            </a:solidFill>
            <a:prstDash val="solid"/>
          </a:ln>
        </p:spPr>
      </p:sp>
      <p:sp>
        <p:nvSpPr>
          <p:cNvPr id="10" name="Text 8"/>
          <p:cNvSpPr/>
          <p:nvPr/>
        </p:nvSpPr>
        <p:spPr>
          <a:xfrm>
            <a:off x="640080" y="5806440"/>
            <a:ext cx="10972800" cy="777240"/>
          </a:xfrm>
          <a:prstGeom prst="rect">
            <a:avLst/>
          </a:prstGeom>
          <a:noFill/>
          <a:ln/>
        </p:spPr>
        <p:txBody>
          <a:bodyPr wrap="square" lIns="0" tIns="0" rIns="0" bIns="0" rtlCol="0" anchor="ctr"/>
          <a:lstStyle/>
          <a:p>
            <a:pPr indent="0" marL="0">
              <a:buNone/>
            </a:pPr>
            <a:r>
              <a:rPr lang="en-US" sz="1200" b="1" dirty="0">
                <a:solidFill>
                  <a:srgbClr val="1E40AF"/>
                </a:solidFill>
                <a:latin typeface="Calibri" pitchFamily="34" charset="0"/>
                <a:ea typeface="Calibri" pitchFamily="34" charset="-122"/>
                <a:cs typeface="Calibri" pitchFamily="34" charset="-120"/>
              </a:rPr>
              <a:t>Otázka  </a:t>
            </a:r>
            <a:pPr indent="0" marL="0">
              <a:buNone/>
            </a:pPr>
            <a:r>
              <a:rPr lang="en-US" sz="1200" dirty="0">
                <a:solidFill>
                  <a:srgbClr val="2D2D2D"/>
                </a:solidFill>
                <a:latin typeface="Calibri" pitchFamily="34" charset="0"/>
                <a:ea typeface="Calibri" pitchFamily="34" charset="-122"/>
                <a:cs typeface="Calibri" pitchFamily="34" charset="-120"/>
              </a:rPr>
              <a:t>Pokud výsledky ukáží neočekávaný trend (například M &gt; L &gt; S), je to validní zjištění pro diplomku, nebo známka problému s daty / modelem, který bych měl řešit?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Otevřený bod 3 — ICESat-2 pro odhad výšky</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150876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Po podrobné analýze původního návrhu (3D U-Net na ICESat-2 ATL03 fotonových mračnech) jsem dospěl k závěru, že je třeba ho rozdělit na dvě části. Pro odhad výšky detekovaných hrází je ICESat-2 ideální zdroj — má sub-metrovou vertikální přesnost a tisíce crossings v testovací oblasti. Pro detekci tvaru hráze ale ICESat-2 nestačí — tracky jsou ~3 km od sebe a nepokrývají souvisle celé hráze. Můj návrh je tedy ICESat-2 použít jako doplněk pro výšku, ne jako primární detekční kanál. Toto rozhodnutí prosím konzultujme.</a:t>
            </a:r>
            <a:endParaRPr lang="en-US" sz="1300" dirty="0"/>
          </a:p>
        </p:txBody>
      </p:sp>
      <p:sp>
        <p:nvSpPr>
          <p:cNvPr id="5" name="Shape 3"/>
          <p:cNvSpPr/>
          <p:nvPr/>
        </p:nvSpPr>
        <p:spPr>
          <a:xfrm>
            <a:off x="457200" y="2606040"/>
            <a:ext cx="5486400" cy="1920240"/>
          </a:xfrm>
          <a:prstGeom prst="rect">
            <a:avLst/>
          </a:prstGeom>
          <a:solidFill>
            <a:srgbClr val="F8F8F8"/>
          </a:solidFill>
          <a:ln w="9525">
            <a:solidFill>
              <a:srgbClr val="E5E7EB"/>
            </a:solidFill>
            <a:prstDash val="solid"/>
          </a:ln>
        </p:spPr>
      </p:sp>
      <p:sp>
        <p:nvSpPr>
          <p:cNvPr id="6" name="Text 4"/>
          <p:cNvSpPr/>
          <p:nvPr/>
        </p:nvSpPr>
        <p:spPr>
          <a:xfrm>
            <a:off x="640080" y="2697480"/>
            <a:ext cx="5212080" cy="320040"/>
          </a:xfrm>
          <a:prstGeom prst="rect">
            <a:avLst/>
          </a:prstGeom>
          <a:noFill/>
          <a:ln/>
        </p:spPr>
        <p:txBody>
          <a:bodyPr wrap="square" lIns="0" tIns="0" rIns="0" bIns="0" rtlCol="0" anchor="ctr"/>
          <a:lstStyle/>
          <a:p>
            <a:pPr indent="0" marL="0">
              <a:buNone/>
            </a:pPr>
            <a:r>
              <a:rPr lang="en-US" sz="1300" b="1" dirty="0">
                <a:solidFill>
                  <a:srgbClr val="047857"/>
                </a:solidFill>
                <a:latin typeface="Calibri" pitchFamily="34" charset="0"/>
                <a:ea typeface="Calibri" pitchFamily="34" charset="-122"/>
                <a:cs typeface="Calibri" pitchFamily="34" charset="-120"/>
              </a:rPr>
              <a:t>Pro odhad výšky: realistické</a:t>
            </a:r>
            <a:endParaRPr lang="en-US" sz="1300" dirty="0"/>
          </a:p>
        </p:txBody>
      </p:sp>
      <p:sp>
        <p:nvSpPr>
          <p:cNvPr id="7" name="Text 5"/>
          <p:cNvSpPr/>
          <p:nvPr/>
        </p:nvSpPr>
        <p:spPr>
          <a:xfrm>
            <a:off x="640080" y="3017520"/>
            <a:ext cx="5212080" cy="141732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ICESat-2 má sub-metrovou vertikální přesnost</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Hráze viditelné v profilech (ATL08 crossings)</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Bodový odhad výšky pro detekované hráze</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Tisíce crossings v testovací oblasti</a:t>
            </a:r>
            <a:endParaRPr lang="en-US" sz="1100" dirty="0"/>
          </a:p>
        </p:txBody>
      </p:sp>
      <p:sp>
        <p:nvSpPr>
          <p:cNvPr id="8" name="Shape 6"/>
          <p:cNvSpPr/>
          <p:nvPr/>
        </p:nvSpPr>
        <p:spPr>
          <a:xfrm>
            <a:off x="6217920" y="2606040"/>
            <a:ext cx="5486400" cy="1920240"/>
          </a:xfrm>
          <a:prstGeom prst="rect">
            <a:avLst/>
          </a:prstGeom>
          <a:solidFill>
            <a:srgbClr val="F8F8F8"/>
          </a:solidFill>
          <a:ln w="9525">
            <a:solidFill>
              <a:srgbClr val="E5E7EB"/>
            </a:solidFill>
            <a:prstDash val="solid"/>
          </a:ln>
        </p:spPr>
      </p:sp>
      <p:sp>
        <p:nvSpPr>
          <p:cNvPr id="9" name="Text 7"/>
          <p:cNvSpPr/>
          <p:nvPr/>
        </p:nvSpPr>
        <p:spPr>
          <a:xfrm>
            <a:off x="6400800" y="2697480"/>
            <a:ext cx="5212080" cy="320040"/>
          </a:xfrm>
          <a:prstGeom prst="rect">
            <a:avLst/>
          </a:prstGeom>
          <a:noFill/>
          <a:ln/>
        </p:spPr>
        <p:txBody>
          <a:bodyPr wrap="square" lIns="0" tIns="0" rIns="0" bIns="0" rtlCol="0" anchor="ctr"/>
          <a:lstStyle/>
          <a:p>
            <a:pPr indent="0" marL="0">
              <a:buNone/>
            </a:pPr>
            <a:r>
              <a:rPr lang="en-US" sz="1300" b="1" dirty="0">
                <a:solidFill>
                  <a:srgbClr val="B91C1C"/>
                </a:solidFill>
                <a:latin typeface="Calibri" pitchFamily="34" charset="0"/>
                <a:ea typeface="Calibri" pitchFamily="34" charset="-122"/>
                <a:cs typeface="Calibri" pitchFamily="34" charset="-120"/>
              </a:rPr>
              <a:t>Pro detekci tvaru hráze: nerealistické</a:t>
            </a:r>
            <a:endParaRPr lang="en-US" sz="1300" dirty="0"/>
          </a:p>
        </p:txBody>
      </p:sp>
      <p:sp>
        <p:nvSpPr>
          <p:cNvPr id="10" name="Text 8"/>
          <p:cNvSpPr/>
          <p:nvPr/>
        </p:nvSpPr>
        <p:spPr>
          <a:xfrm>
            <a:off x="6400800" y="3017520"/>
            <a:ext cx="5212080" cy="141732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Tracky 3 km od sebe → izolované řezy</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Nedostatečné prostorové pokrytí pro segmentaci tvaru</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3D U-Net na řídkých voxelech neefektivní</a:t>
            </a:r>
            <a:endParaRPr lang="en-US" sz="1100" dirty="0"/>
          </a:p>
          <a:p>
            <a:pPr marL="342900" indent="-342900">
              <a:spcAft>
                <a:spcPts val="300"/>
              </a:spcAft>
              <a:buSzPct val="100000"/>
              <a:buChar char="•"/>
            </a:pPr>
            <a:r>
              <a:rPr lang="en-US" sz="1100" dirty="0">
                <a:solidFill>
                  <a:srgbClr val="2D2D2D"/>
                </a:solidFill>
                <a:latin typeface="Calibri" pitchFamily="34" charset="0"/>
                <a:ea typeface="Calibri" pitchFamily="34" charset="-122"/>
                <a:cs typeface="Calibri" pitchFamily="34" charset="-120"/>
              </a:rPr>
              <a:t>Tisíce crossings, málo kompletního pokrytí jedné hráze</a:t>
            </a:r>
            <a:endParaRPr lang="en-US" sz="1100" dirty="0"/>
          </a:p>
        </p:txBody>
      </p:sp>
      <p:sp>
        <p:nvSpPr>
          <p:cNvPr id="11" name="Text 9"/>
          <p:cNvSpPr/>
          <p:nvPr/>
        </p:nvSpPr>
        <p:spPr>
          <a:xfrm>
            <a:off x="457200" y="461772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Praktický návrh — třífázový přístup</a:t>
            </a:r>
            <a:endParaRPr lang="en-US" sz="1300" dirty="0"/>
          </a:p>
        </p:txBody>
      </p:sp>
      <p:sp>
        <p:nvSpPr>
          <p:cNvPr id="12" name="Text 10"/>
          <p:cNvSpPr/>
          <p:nvPr/>
        </p:nvSpPr>
        <p:spPr>
          <a:xfrm>
            <a:off x="640080" y="4983480"/>
            <a:ext cx="10972800" cy="1188720"/>
          </a:xfrm>
          <a:prstGeom prst="rect">
            <a:avLst/>
          </a:prstGeom>
          <a:noFill/>
          <a:ln/>
        </p:spPr>
        <p:txBody>
          <a:bodyPr wrap="square" lIns="0" tIns="0" rIns="0" bIns="0" rtlCol="0" anchor="t"/>
          <a:lstStyle/>
          <a:p>
            <a:pPr indent="0" marL="0">
              <a:spcAft>
                <a:spcPts val="500"/>
              </a:spcAft>
              <a:buNone/>
            </a:pPr>
            <a:r>
              <a:rPr lang="en-US" sz="1200" b="1" dirty="0">
                <a:solidFill>
                  <a:srgbClr val="2D2D2D"/>
                </a:solidFill>
                <a:latin typeface="Calibri" pitchFamily="34" charset="0"/>
                <a:ea typeface="Calibri" pitchFamily="34" charset="-122"/>
                <a:cs typeface="Calibri" pitchFamily="34" charset="-120"/>
              </a:rPr>
              <a:t>Fáze 1 (současná):  </a:t>
            </a:r>
            <a:pPr indent="0" marL="0">
              <a:spcAft>
                <a:spcPts val="500"/>
              </a:spcAft>
              <a:buNone/>
            </a:pPr>
            <a:r>
              <a:rPr lang="en-US" sz="1200" dirty="0">
                <a:solidFill>
                  <a:srgbClr val="2D2D2D"/>
                </a:solidFill>
                <a:latin typeface="Calibri" pitchFamily="34" charset="0"/>
                <a:ea typeface="Calibri" pitchFamily="34" charset="-122"/>
                <a:cs typeface="Calibri" pitchFamily="34" charset="-120"/>
              </a:rPr>
              <a:t>2D detekce hrází z DSM</a:t>
            </a:r>
            <a:endParaRPr lang="en-US" sz="1200" dirty="0"/>
          </a:p>
          <a:p>
            <a:pPr indent="0" marL="0">
              <a:spcAft>
                <a:spcPts val="500"/>
              </a:spcAft>
              <a:buNone/>
            </a:pPr>
            <a:r>
              <a:rPr lang="en-US" sz="1200" b="1" dirty="0">
                <a:solidFill>
                  <a:srgbClr val="2D2D2D"/>
                </a:solidFill>
                <a:latin typeface="Calibri" pitchFamily="34" charset="0"/>
                <a:ea typeface="Calibri" pitchFamily="34" charset="-122"/>
                <a:cs typeface="Calibri" pitchFamily="34" charset="-120"/>
              </a:rPr>
              <a:t>Fáze 2 (rozšíření):  </a:t>
            </a:r>
            <a:pPr indent="0" marL="0">
              <a:spcAft>
                <a:spcPts val="500"/>
              </a:spcAft>
              <a:buNone/>
            </a:pPr>
            <a:r>
              <a:rPr lang="en-US" sz="1200" dirty="0">
                <a:solidFill>
                  <a:srgbClr val="2D2D2D"/>
                </a:solidFill>
                <a:latin typeface="Calibri" pitchFamily="34" charset="0"/>
                <a:ea typeface="Calibri" pitchFamily="34" charset="-122"/>
                <a:cs typeface="Calibri" pitchFamily="34" charset="-120"/>
              </a:rPr>
              <a:t>bodový odhad výšky z ICESat-2 ATL08 pro detekované hráze z fáze 1</a:t>
            </a:r>
            <a:endParaRPr lang="en-US" sz="1200" dirty="0"/>
          </a:p>
          <a:p>
            <a:pPr indent="0" marL="0">
              <a:spcAft>
                <a:spcPts val="500"/>
              </a:spcAft>
              <a:buNone/>
            </a:pPr>
            <a:r>
              <a:rPr lang="en-US" sz="1200" b="1" dirty="0">
                <a:solidFill>
                  <a:srgbClr val="2D2D2D"/>
                </a:solidFill>
                <a:latin typeface="Calibri" pitchFamily="34" charset="0"/>
                <a:ea typeface="Calibri" pitchFamily="34" charset="-122"/>
                <a:cs typeface="Calibri" pitchFamily="34" charset="-120"/>
              </a:rPr>
              <a:t>Fáze 3 (zahozená):  </a:t>
            </a:r>
            <a:pPr indent="0" marL="0">
              <a:spcAft>
                <a:spcPts val="500"/>
              </a:spcAft>
              <a:buNone/>
            </a:pPr>
            <a:r>
              <a:rPr lang="en-US" sz="1200" dirty="0">
                <a:solidFill>
                  <a:srgbClr val="2D2D2D"/>
                </a:solidFill>
                <a:latin typeface="Calibri" pitchFamily="34" charset="0"/>
                <a:ea typeface="Calibri" pitchFamily="34" charset="-122"/>
                <a:cs typeface="Calibri" pitchFamily="34" charset="-120"/>
              </a:rPr>
              <a:t>3D U-Net na ATL03 — vysoká cena, nejasný benefit pro detekci tvaru</a:t>
            </a:r>
            <a:endParaRPr lang="en-US" sz="1200" dirty="0"/>
          </a:p>
        </p:txBody>
      </p:sp>
      <p:sp>
        <p:nvSpPr>
          <p:cNvPr id="13" name="Text 11"/>
          <p:cNvSpPr/>
          <p:nvPr/>
        </p:nvSpPr>
        <p:spPr>
          <a:xfrm>
            <a:off x="457200" y="6537960"/>
            <a:ext cx="11247120" cy="256032"/>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K diskuzi: souhlas s rozdělením? Nebo ICESat-2 zachovat i pro detekci v omezené roli?</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Plán dalších kroků</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128016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Plán je strukturovaný do tří horizontů a reflektuje priority: nejprve vyhodnotit první tréninkový běh a iterovat na zjištěných problémech, pak rozšířit na hlavní model a cross-region experiment, nakonec přidat ICESat-2 fázi a sepsat práci. Záměrně neřadím USA dataset, globální generalizaci ani DSM korekci do plánu — jsou to oblasti, které jsem zvážil a vědomě odložil mimo scope.</a:t>
            </a:r>
            <a:endParaRPr lang="en-US" sz="1300" dirty="0"/>
          </a:p>
        </p:txBody>
      </p:sp>
      <p:sp>
        <p:nvSpPr>
          <p:cNvPr id="5" name="Text 3"/>
          <p:cNvSpPr/>
          <p:nvPr/>
        </p:nvSpPr>
        <p:spPr>
          <a:xfrm>
            <a:off x="457200" y="233172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Krátkodobě (týdny)</a:t>
            </a:r>
            <a:endParaRPr lang="en-US" sz="1300" dirty="0"/>
          </a:p>
        </p:txBody>
      </p:sp>
      <p:sp>
        <p:nvSpPr>
          <p:cNvPr id="6" name="Text 4"/>
          <p:cNvSpPr/>
          <p:nvPr/>
        </p:nvSpPr>
        <p:spPr>
          <a:xfrm>
            <a:off x="640080" y="2651760"/>
            <a:ext cx="10972800" cy="10058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Dokončit současný tréninkový běh ResNet-UNet</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Vyhodnotit metriky a vizualizace, identifikovat failure modes</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Iterovat na hyperparametrech podle pozorovaných problémů (LR, α v loss)</a:t>
            </a:r>
            <a:endParaRPr lang="en-US" sz="1200" dirty="0"/>
          </a:p>
        </p:txBody>
      </p:sp>
      <p:sp>
        <p:nvSpPr>
          <p:cNvPr id="7" name="Text 5"/>
          <p:cNvSpPr/>
          <p:nvPr/>
        </p:nvSpPr>
        <p:spPr>
          <a:xfrm>
            <a:off x="457200" y="370332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Střednědobě (1–2 měsíce)</a:t>
            </a:r>
            <a:endParaRPr lang="en-US" sz="1300" dirty="0"/>
          </a:p>
        </p:txBody>
      </p:sp>
      <p:sp>
        <p:nvSpPr>
          <p:cNvPr id="8" name="Text 6"/>
          <p:cNvSpPr/>
          <p:nvPr/>
        </p:nvSpPr>
        <p:spPr>
          <a:xfrm>
            <a:off x="640080" y="4023360"/>
            <a:ext cx="10972800" cy="13716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Trénink SegFormer (hlavní model, srovnání s baseline)</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Cross-region evaluace (PL only → NL test, NL only → PL test)</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Postprocessing pipeline: probability raster → threshold → skeleton → vector lines</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Inference na celý DSM (sliding window 50 % overlap)</a:t>
            </a:r>
            <a:endParaRPr lang="en-US" sz="1200" dirty="0"/>
          </a:p>
        </p:txBody>
      </p:sp>
      <p:sp>
        <p:nvSpPr>
          <p:cNvPr id="9" name="Text 7"/>
          <p:cNvSpPr/>
          <p:nvPr/>
        </p:nvSpPr>
        <p:spPr>
          <a:xfrm>
            <a:off x="457200" y="544068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Dlouhodobě (před odevzdáním)</a:t>
            </a:r>
            <a:endParaRPr lang="en-US" sz="1300" dirty="0"/>
          </a:p>
        </p:txBody>
      </p:sp>
      <p:sp>
        <p:nvSpPr>
          <p:cNvPr id="10" name="Text 8"/>
          <p:cNvSpPr/>
          <p:nvPr/>
        </p:nvSpPr>
        <p:spPr>
          <a:xfrm>
            <a:off x="640080" y="5760720"/>
            <a:ext cx="10972800" cy="9144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Bodový odhad výšky z ICESat-2 ATL08 pro detekované hráze (fáze 2)</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Závěrečné experimenty a ablation studies (kanály, augmentace, normalizace)</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Psaní diplomové práce</a:t>
            </a:r>
            <a:endParaRPr lang="en-US" sz="1200" dirty="0"/>
          </a:p>
        </p:txBody>
      </p:sp>
      <p:sp>
        <p:nvSpPr>
          <p:cNvPr id="11" name="Text 9"/>
          <p:cNvSpPr/>
          <p:nvPr/>
        </p:nvSpPr>
        <p:spPr>
          <a:xfrm>
            <a:off x="457200" y="6537960"/>
            <a:ext cx="11247120" cy="256032"/>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Mimo scope: USA dataset (NLD), globální generalizace, DSM korekce (Fathom replikace)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Otázky na školitele</a:t>
            </a:r>
            <a:endParaRPr lang="en-US" sz="2400" dirty="0"/>
          </a:p>
        </p:txBody>
      </p:sp>
      <p:sp>
        <p:nvSpPr>
          <p:cNvPr id="3" name="Shape 1"/>
          <p:cNvSpPr/>
          <p:nvPr/>
        </p:nvSpPr>
        <p:spPr>
          <a:xfrm>
            <a:off x="457200" y="841248"/>
            <a:ext cx="11247120" cy="0"/>
          </a:xfrm>
          <a:prstGeom prst="line">
            <a:avLst/>
          </a:prstGeom>
          <a:noFill/>
          <a:ln w="9525">
            <a:solidFill>
              <a:srgbClr val="D1D5DB"/>
            </a:solidFill>
            <a:prstDash val="solid"/>
          </a:ln>
        </p:spPr>
      </p:sp>
      <p:sp>
        <p:nvSpPr>
          <p:cNvPr id="4" name="Text 2"/>
          <p:cNvSpPr/>
          <p:nvPr/>
        </p:nvSpPr>
        <p:spPr>
          <a:xfrm>
            <a:off x="457200" y="960120"/>
            <a:ext cx="11247120" cy="1097280"/>
          </a:xfrm>
          <a:prstGeom prst="rect">
            <a:avLst/>
          </a:prstGeom>
          <a:noFill/>
          <a:ln/>
        </p:spPr>
        <p:txBody>
          <a:bodyPr wrap="square" lIns="0" tIns="0" rIns="0" bIns="0" rtlCol="0" anchor="t"/>
          <a:lstStyle/>
          <a:p>
            <a:pPr indent="0" marL="0">
              <a:spcAft>
                <a:spcPts val="400"/>
              </a:spcAft>
              <a:buNone/>
            </a:pPr>
            <a:r>
              <a:rPr lang="en-US" sz="1300" dirty="0">
                <a:solidFill>
                  <a:srgbClr val="2D2D2D"/>
                </a:solidFill>
                <a:latin typeface="Calibri" pitchFamily="34" charset="0"/>
                <a:ea typeface="Calibri" pitchFamily="34" charset="-122"/>
                <a:cs typeface="Calibri" pitchFamily="34" charset="-120"/>
              </a:rPr>
              <a:t>Otázky jsou rozdělené tematicky a zaměřené na rozhodovací body, kde mám vlastní stanovisko, ale potřebuji potvrzení směru — nebo upozornění, pokud něco přehlížím. Předem k třem nejdůležitějším: souhlas s 2D segmentací jako primární metodou, souhlas s ICESat-2 v doplňkové roli, a názor na prioritu cross-region experimentů.</a:t>
            </a:r>
            <a:endParaRPr lang="en-US" sz="1300" dirty="0"/>
          </a:p>
        </p:txBody>
      </p:sp>
      <p:sp>
        <p:nvSpPr>
          <p:cNvPr id="5" name="Text 3"/>
          <p:cNvSpPr/>
          <p:nvPr/>
        </p:nvSpPr>
        <p:spPr>
          <a:xfrm>
            <a:off x="457200" y="214884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K přístupu</a:t>
            </a:r>
            <a:endParaRPr lang="en-US" sz="1300" dirty="0"/>
          </a:p>
        </p:txBody>
      </p:sp>
      <p:sp>
        <p:nvSpPr>
          <p:cNvPr id="6" name="Text 4"/>
          <p:cNvSpPr/>
          <p:nvPr/>
        </p:nvSpPr>
        <p:spPr>
          <a:xfrm>
            <a:off x="640080" y="2468880"/>
            <a:ext cx="10972800" cy="6858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Souhlas s 2D segmentací jako primární metodou (místo Pronk-based přístupu nebo DSM korekce)?</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Souhlas s ICESat-2 jako doplňkem pro výšku, ne jako primární detekce?</a:t>
            </a:r>
            <a:endParaRPr lang="en-US" sz="1200" dirty="0"/>
          </a:p>
        </p:txBody>
      </p:sp>
      <p:sp>
        <p:nvSpPr>
          <p:cNvPr id="7" name="Text 5"/>
          <p:cNvSpPr/>
          <p:nvPr/>
        </p:nvSpPr>
        <p:spPr>
          <a:xfrm>
            <a:off x="457200" y="324612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K experimentům</a:t>
            </a:r>
            <a:endParaRPr lang="en-US" sz="1300" dirty="0"/>
          </a:p>
        </p:txBody>
      </p:sp>
      <p:sp>
        <p:nvSpPr>
          <p:cNvPr id="8" name="Text 6"/>
          <p:cNvSpPr/>
          <p:nvPr/>
        </p:nvSpPr>
        <p:spPr>
          <a:xfrm>
            <a:off x="640080" y="3566160"/>
            <a:ext cx="1097280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Cross-region evaluace (PL → NL, NL → PL) — zahrnout jako separátní experiment, nebo až pokud zbude čas?</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Pokud hypotéza S / M / L nepotvrdí, jaké iterace doporučujete?</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Postprocessing — vektorizace skeletu — máte zkušenost s konkrétním postupem (gap filling, minimální délka segmentu)?</a:t>
            </a:r>
            <a:endParaRPr lang="en-US" sz="1200" dirty="0"/>
          </a:p>
        </p:txBody>
      </p:sp>
      <p:sp>
        <p:nvSpPr>
          <p:cNvPr id="9" name="Text 7"/>
          <p:cNvSpPr/>
          <p:nvPr/>
        </p:nvSpPr>
        <p:spPr>
          <a:xfrm>
            <a:off x="457200" y="484632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K dlouhodobému směřování</a:t>
            </a:r>
            <a:endParaRPr lang="en-US" sz="1300" dirty="0"/>
          </a:p>
        </p:txBody>
      </p:sp>
      <p:sp>
        <p:nvSpPr>
          <p:cNvPr id="10" name="Text 8"/>
          <p:cNvSpPr/>
          <p:nvPr/>
        </p:nvSpPr>
        <p:spPr>
          <a:xfrm>
            <a:off x="640080" y="5166360"/>
            <a:ext cx="10972800" cy="7772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Dva regiony (PL + NL) jako rozsah práce — dostatečné, nebo doporučujete rozšíření?</a:t>
            </a:r>
            <a:endParaRPr lang="en-US" sz="1200" dirty="0"/>
          </a:p>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Plánovaný odhad výšky z ICESat-2 — jako separátní kapitola, nebo integrovaná část detekční pipeline?</a:t>
            </a:r>
            <a:endParaRPr lang="en-US" sz="1200" dirty="0"/>
          </a:p>
        </p:txBody>
      </p:sp>
      <p:sp>
        <p:nvSpPr>
          <p:cNvPr id="11" name="Text 9"/>
          <p:cNvSpPr/>
          <p:nvPr/>
        </p:nvSpPr>
        <p:spPr>
          <a:xfrm>
            <a:off x="457200" y="6035040"/>
            <a:ext cx="11247120" cy="292608"/>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K administrativě</a:t>
            </a:r>
            <a:endParaRPr lang="en-US" sz="1300" dirty="0"/>
          </a:p>
        </p:txBody>
      </p:sp>
      <p:sp>
        <p:nvSpPr>
          <p:cNvPr id="12" name="Text 10"/>
          <p:cNvSpPr/>
          <p:nvPr/>
        </p:nvSpPr>
        <p:spPr>
          <a:xfrm>
            <a:off x="640080" y="6355080"/>
            <a:ext cx="10972800" cy="3657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Calibri" pitchFamily="34" charset="0"/>
                <a:ea typeface="Calibri" pitchFamily="34" charset="-122"/>
                <a:cs typeface="Calibri" pitchFamily="34" charset="-120"/>
              </a:rPr>
              <a:t>Termíny pro draft kapitol, plánované konzultace v dalších týdnech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Detekce protipovodnovych hrazi - konzultace</dc:title>
  <dc:subject>PptxGenJS Presentation</dc:subject>
  <dc:creator>Jakub Zapletal</dc:creator>
  <cp:lastModifiedBy>Jakub Zapletal</cp:lastModifiedBy>
  <cp:revision>1</cp:revision>
  <dcterms:created xsi:type="dcterms:W3CDTF">2026-04-29T08:04:44Z</dcterms:created>
  <dcterms:modified xsi:type="dcterms:W3CDTF">2026-04-29T08:04:44Z</dcterms:modified>
</cp:coreProperties>
</file>